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71" r:id="rId6"/>
    <p:sldId id="274" r:id="rId7"/>
    <p:sldId id="270" r:id="rId8"/>
    <p:sldId id="259" r:id="rId9"/>
    <p:sldId id="266" r:id="rId10"/>
    <p:sldId id="261" r:id="rId11"/>
    <p:sldId id="273" r:id="rId12"/>
    <p:sldId id="262" r:id="rId13"/>
    <p:sldId id="263" r:id="rId14"/>
    <p:sldId id="264" r:id="rId15"/>
    <p:sldId id="279" r:id="rId16"/>
    <p:sldId id="275" r:id="rId17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3E8F"/>
    <a:srgbClr val="0077B6"/>
    <a:srgbClr val="028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64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92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E2761"/>
                </a:solidFill>
                <a:latin typeface="Arial"/>
              </a:rPr>
              <a:t>Overall Satisfaction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Satisfaction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D5A-435B-B81E-CA18CC13BE05}"/>
              </c:ext>
            </c:extLst>
          </c:dPt>
          <c:dPt>
            <c:idx val="1"/>
            <c:bubble3D val="0"/>
            <c:spPr>
              <a:solidFill>
                <a:srgbClr val="E8EE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D5A-435B-B81E-CA18CC13BE05}"/>
              </c:ext>
            </c:extLst>
          </c:dPt>
          <c:cat>
            <c:strRef>
              <c:f>Sheet1!$A$2:$A$3</c:f>
              <c:strCache>
                <c:ptCount val="2"/>
                <c:pt idx="0">
                  <c:v>Score (4.3)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5A-435B-B81E-CA18CC13BE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7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E2761"/>
                </a:solidFill>
                <a:latin typeface="Arial"/>
              </a:rPr>
              <a:t>Ratings by Dimension (/ 5)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 (out of 5)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4.2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41DD-490C-BDAB-1D90B9F1D90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4.4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1DD-490C-BDAB-1D90B9F1D90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dirty="0"/>
                      <a:t>4.3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1DD-490C-BDAB-1D90B9F1D90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Clarity</c:v>
                </c:pt>
                <c:pt idx="1">
                  <c:v>Usefulness</c:v>
                </c:pt>
                <c:pt idx="2">
                  <c:v>Personalization</c:v>
                </c:pt>
                <c:pt idx="3">
                  <c:v>Satisfaction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4.2</c:v>
                </c:pt>
                <c:pt idx="1">
                  <c:v>4.4000000000000004</c:v>
                </c:pt>
                <c:pt idx="2">
                  <c:v>4.5</c:v>
                </c:pt>
                <c:pt idx="3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CB-4A41-9077-E8B0FD4864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7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9340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8A83F-22A0-C1FD-D833-89FCB870E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469E42-1C61-F154-1721-4246AB61F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C27FA8-F84D-1C4C-51FC-C9C1B1303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63454-DB17-4EF5-54C8-ED9BE56875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656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16798-B2BC-B15C-D016-5B42A91CA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3294E2-4FB0-1FEB-C653-92CD3863F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B3FABF-7AF9-6F3F-9A77-E09D582E0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AA8E9-1EC6-CEA3-020A-952A45C75A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763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25579-C6EB-1915-418D-29869F671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E04502-5FFC-1C5B-C0F4-DB2101594F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91B15-E192-C0D0-03FD-25A38E9CA7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BF4B1-9735-5236-F506-E970493098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880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16024-F884-DED6-0E02-DCDFB4545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4F7327-BA8C-8A67-5148-B35DBBD259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41E951-8CE3-B21E-0B0B-D628FFFD7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7C898-7DAB-5DCB-5B71-09601D2090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2348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7A0C8-4E82-F825-D327-964F89B4C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804913-20D5-2A98-4600-5F4CB9188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0C5DE0-32F5-F293-C055-320184EB8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DD9E0-1F95-8BFF-0534-F9EA541BA3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069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980D8-AC40-4E7C-B9D1-01F7A39C6B77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ACFA5-46B0-4926-97C0-1C9881CC9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16953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980D8-AC40-4E7C-B9D1-01F7A39C6B77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ACFA5-46B0-4926-97C0-1C9881CC9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76156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980D8-AC40-4E7C-B9D1-01F7A39C6B77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ACFA5-46B0-4926-97C0-1C9881CC9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4406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980D8-AC40-4E7C-B9D1-01F7A39C6B77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ACFA5-46B0-4926-97C0-1C9881CC9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65017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980D8-AC40-4E7C-B9D1-01F7A39C6B77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ACFA5-46B0-4926-97C0-1C9881CC9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89684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980D8-AC40-4E7C-B9D1-01F7A39C6B77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ACFA5-46B0-4926-97C0-1C9881CC9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84093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980D8-AC40-4E7C-B9D1-01F7A39C6B77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ACFA5-46B0-4926-97C0-1C9881CC9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65762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980D8-AC40-4E7C-B9D1-01F7A39C6B77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ACFA5-46B0-4926-97C0-1C9881CC9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70336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980D8-AC40-4E7C-B9D1-01F7A39C6B77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ACFA5-46B0-4926-97C0-1C9881CC9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76563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980D8-AC40-4E7C-B9D1-01F7A39C6B77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ACFA5-46B0-4926-97C0-1C9881CC9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52378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980D8-AC40-4E7C-B9D1-01F7A39C6B77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ACFA5-46B0-4926-97C0-1C9881CC9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95465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1239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980D8-AC40-4E7C-B9D1-01F7A39C6B77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ACFA5-46B0-4926-97C0-1C9881CC9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988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206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99448" y="1017393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Human-Centered Natural Language Processing  ·  HCNLP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69713" y="1139632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LexiPath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69713" y="2145472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Stateful Retrieval-Augmented German Tutoring System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Adaptive Learner Modeling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69713" y="3133024"/>
            <a:ext cx="1920240" cy="347472"/>
          </a:xfrm>
          <a:prstGeom prst="roundRect">
            <a:avLst>
              <a:gd name="adj" fmla="val 31579"/>
            </a:avLst>
          </a:prstGeom>
          <a:solidFill>
            <a:srgbClr val="00206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469713" y="313302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554545" y="3133024"/>
            <a:ext cx="1920240" cy="347472"/>
          </a:xfrm>
          <a:prstGeom prst="roundRect">
            <a:avLst>
              <a:gd name="adj" fmla="val 31579"/>
            </a:avLst>
          </a:prstGeom>
          <a:solidFill>
            <a:srgbClr val="00206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54545" y="313302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39377" y="3133024"/>
            <a:ext cx="1920240" cy="347472"/>
          </a:xfrm>
          <a:prstGeom prst="roundRect">
            <a:avLst>
              <a:gd name="adj" fmla="val 31579"/>
            </a:avLst>
          </a:prstGeom>
          <a:solidFill>
            <a:srgbClr val="00206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639377" y="313302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Modeling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724209" y="3133024"/>
            <a:ext cx="1920240" cy="347472"/>
          </a:xfrm>
          <a:prstGeom prst="roundRect">
            <a:avLst>
              <a:gd name="adj" fmla="val 31579"/>
            </a:avLst>
          </a:prstGeom>
          <a:solidFill>
            <a:srgbClr val="00206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724209" y="313302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 A1–B1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69713" y="3681664"/>
            <a:ext cx="8595360" cy="0"/>
          </a:xfrm>
          <a:prstGeom prst="line">
            <a:avLst/>
          </a:prstGeom>
          <a:noFill/>
          <a:ln w="1905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9713" y="381882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 Naineni  ·  Gagana Jayarama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69713" y="418458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Otto von Guericke University Magdeburg, Germany  ·  April 2026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72400" y="46634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14</a:t>
            </a:r>
            <a:endParaRPr lang="en-US" sz="1000" dirty="0"/>
          </a:p>
        </p:txBody>
      </p:sp>
      <p:sp>
        <p:nvSpPr>
          <p:cNvPr id="22" name="AutoShape 2">
            <a:extLst>
              <a:ext uri="{FF2B5EF4-FFF2-40B4-BE49-F238E27FC236}">
                <a16:creationId xmlns:a16="http://schemas.microsoft.com/office/drawing/2014/main" id="{D06F28D1-8569-B514-F9FC-950AD720E2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2419349"/>
            <a:ext cx="2231457" cy="2231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" name="AutoShape 4">
            <a:extLst>
              <a:ext uri="{FF2B5EF4-FFF2-40B4-BE49-F238E27FC236}">
                <a16:creationId xmlns:a16="http://schemas.microsoft.com/office/drawing/2014/main" id="{B818A920-1971-947C-00D1-F2C089A95F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5340094"/>
            <a:ext cx="3268098" cy="347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37284B8-08B9-E90F-A46C-771C117CF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0"/>
            <a:ext cx="9034272" cy="10939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27432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234440" y="1115568"/>
            <a:ext cx="713232" cy="7132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1216152"/>
            <a:ext cx="493776" cy="493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95681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&amp; Drift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93192" y="2359152"/>
            <a:ext cx="241401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LLMs lack grounding in verified instructional content, producing inconsistent or incorrect German grammar explanations.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86868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200400" y="868680"/>
            <a:ext cx="27432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206240" y="1115568"/>
            <a:ext cx="713232" cy="7132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216152"/>
            <a:ext cx="493776" cy="4937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195681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64992" y="2359152"/>
            <a:ext cx="241401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responses regardless of learner proficiency, prior errors, or history — every student gets the same output.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72200" y="86868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172200" y="868680"/>
            <a:ext cx="27432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7178040" y="1115568"/>
            <a:ext cx="713232" cy="7132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768" y="1216152"/>
            <a:ext cx="493776" cy="4937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09360" y="195681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Amnesia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36792" y="2359152"/>
            <a:ext cx="241401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cross-session memory disrupts progressive learning continuity and forces learners to repeat context each time.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228600" y="4315968"/>
            <a:ext cx="8686800" cy="594360"/>
          </a:xfrm>
          <a:prstGeom prst="rect">
            <a:avLst/>
          </a:prstGeom>
          <a:solidFill>
            <a:srgbClr val="E8F0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228600" y="4315968"/>
            <a:ext cx="54864" cy="59436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365760" y="43159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grammar demands case endings, gender agreement, verb inflection — learner error patterns are regular but unique to each individual.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&amp; Contributions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160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1605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" y="149961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84048" y="1499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499616"/>
            <a:ext cx="3401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integrating a stateful learner model with RAG improve tutoring quality?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84048" y="239572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84048" y="2395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395728"/>
            <a:ext cx="3401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LexiPath maintain learner state across sessions?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4048" y="329184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84048" y="3291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3291840"/>
            <a:ext cx="3401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retrieval improve response stability?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885614"/>
            <a:ext cx="4160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54880" y="868680"/>
            <a:ext cx="41605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46320" y="8686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1463040"/>
            <a:ext cx="54864" cy="402336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992624" y="146304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RAG-based tutoring with persistent learner model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148840"/>
            <a:ext cx="54864" cy="402336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992624" y="214884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Diagnostic-driven CEFR level estimation (A1–B1)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834640"/>
            <a:ext cx="54864" cy="402336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992624" y="283464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German grammar corpus (~1,240 documents)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520440"/>
            <a:ext cx="54864" cy="402336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992624" y="352044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evaluation: response quality, retrieval reliability, multi-session continuity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78240" y="48006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Comparative System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37744" y="851836"/>
            <a:ext cx="2743200" cy="4069080"/>
          </a:xfrm>
          <a:prstGeom prst="rect">
            <a:avLst/>
          </a:prstGeom>
          <a:solidFill>
            <a:srgbClr val="F0F0F5"/>
          </a:solidFill>
          <a:ln w="1905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2743200" cy="7132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38328" y="859536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LLM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6824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5252" y="2081944"/>
            <a:ext cx="182880" cy="18288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56582" y="2124937"/>
            <a:ext cx="2072640" cy="4262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b="1" dirty="0"/>
              <a:t>Parametric Memory:</a:t>
            </a:r>
            <a:r>
              <a:rPr lang="en-IN" sz="1200" dirty="0"/>
              <a:t> Limited to static weights pre-training.</a:t>
            </a: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5252" y="2645263"/>
            <a:ext cx="182880" cy="18288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38132" y="2644060"/>
            <a:ext cx="2353056" cy="449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b="1" dirty="0"/>
              <a:t>Stateless Logic:</a:t>
            </a:r>
            <a:r>
              <a:rPr lang="en-IN" sz="1200" dirty="0"/>
              <a:t> Each request is independent; no historical context</a:t>
            </a: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8328" y="3281974"/>
            <a:ext cx="182880" cy="18288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12064" y="3362104"/>
            <a:ext cx="224942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/>
              <a:t>Stochastic Variance:</a:t>
            </a:r>
            <a:r>
              <a:rPr lang="en-US" sz="1200" dirty="0"/>
              <a:t> High risk of hallucination in grammar rules.</a:t>
            </a: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8328" y="3926867"/>
            <a:ext cx="182880" cy="18288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62356" y="3869716"/>
            <a:ext cx="2446020" cy="4325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/>
              <a:t>Context:</a:t>
            </a:r>
            <a:r>
              <a:rPr lang="en-US" sz="1200" dirty="0"/>
              <a:t> Fixed token window.</a:t>
            </a: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35478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82219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409651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37083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834136"/>
            <a:ext cx="2743200" cy="4069080"/>
          </a:xfrm>
          <a:prstGeom prst="rect">
            <a:avLst/>
          </a:prstGeom>
          <a:solidFill>
            <a:srgbClr val="EEF2FF"/>
          </a:solidFill>
          <a:ln w="19050">
            <a:solidFill>
              <a:srgbClr val="2D3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2" name="Shape 20"/>
          <p:cNvSpPr/>
          <p:nvPr/>
        </p:nvSpPr>
        <p:spPr>
          <a:xfrm>
            <a:off x="3200400" y="841248"/>
            <a:ext cx="2743200" cy="713232"/>
          </a:xfrm>
          <a:prstGeom prst="rect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310128" y="859536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1840" y="11155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RAG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337560" y="16824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Capabilities: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40929" y="2071838"/>
            <a:ext cx="182880" cy="182880"/>
          </a:xfrm>
          <a:prstGeom prst="ellipse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523809" y="2042961"/>
            <a:ext cx="2221992" cy="423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b="1" dirty="0"/>
              <a:t>Non-Parametric Memory:</a:t>
            </a:r>
            <a:r>
              <a:rPr lang="en-IN" sz="1100" dirty="0"/>
              <a:t> External Vector DB retrieval </a:t>
            </a: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55848" y="2578608"/>
            <a:ext cx="182880" cy="182880"/>
          </a:xfrm>
          <a:prstGeom prst="ellipse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575304" y="2571750"/>
            <a:ext cx="2221992" cy="491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/>
              <a:t>Semantic Search:</a:t>
            </a:r>
            <a:r>
              <a:rPr lang="en-US" sz="1100" dirty="0"/>
              <a:t> Cosine similarity matching on raw text chunks.</a:t>
            </a:r>
          </a:p>
          <a:p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55848" y="3154680"/>
            <a:ext cx="182880" cy="182880"/>
          </a:xfrm>
          <a:prstGeom prst="ellipse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595878" y="3115698"/>
            <a:ext cx="2201418" cy="5236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/>
              <a:t>Knowledge-Augmented:</a:t>
            </a:r>
            <a:r>
              <a:rPr lang="en-US" sz="1100" dirty="0"/>
              <a:t> Grounded in verified external corpus.</a:t>
            </a: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83280" y="3732677"/>
            <a:ext cx="182880" cy="182880"/>
          </a:xfrm>
          <a:prstGeom prst="ellipse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593592" y="3751446"/>
            <a:ext cx="2331720" cy="5034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/>
              <a:t>Constraint:</a:t>
            </a:r>
            <a:r>
              <a:rPr lang="en-US" sz="1200" dirty="0"/>
              <a:t> No tracking of learner proficiency or history.</a:t>
            </a: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337560" y="35478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83280" y="382219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83280" y="409651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72200" y="822960"/>
            <a:ext cx="2743200" cy="4069080"/>
          </a:xfrm>
          <a:prstGeom prst="rect">
            <a:avLst/>
          </a:prstGeom>
          <a:solidFill>
            <a:srgbClr val="E6FAF5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172200" y="841248"/>
            <a:ext cx="2743200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281928" y="859536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99632" y="1011134"/>
            <a:ext cx="2825495" cy="590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State-Aware RAG - </a:t>
            </a:r>
            <a:r>
              <a:rPr lang="en-US" sz="1400" b="1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LexiPath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6309360" y="16824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Capabilities: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09360" y="1975104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542532" y="2132958"/>
            <a:ext cx="2221992" cy="346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/>
              <a:t>Persistent Profile:</a:t>
            </a:r>
            <a:r>
              <a:rPr lang="en-US" sz="1200" dirty="0"/>
              <a:t> JSON-serialized learner state machine.</a:t>
            </a:r>
          </a:p>
          <a:p>
            <a:br>
              <a:rPr lang="en-US" sz="1050" dirty="0"/>
            </a:b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88666" y="2592565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526530" y="2582217"/>
            <a:ext cx="2498598" cy="456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/>
              <a:t>Metadata Filtering:</a:t>
            </a:r>
            <a:r>
              <a:rPr lang="en-US" sz="1200" dirty="0"/>
              <a:t> Query restricted by CEFR level</a:t>
            </a:r>
            <a:br>
              <a:rPr lang="en-US" sz="1200" dirty="0"/>
            </a:b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320429" y="3100779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542532" y="3759387"/>
            <a:ext cx="2336292" cy="601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b="1" dirty="0"/>
              <a:t>Personalization:</a:t>
            </a:r>
            <a:r>
              <a:rPr lang="en-IN" sz="1200" dirty="0"/>
              <a:t> Weakness-weighted retrieval prioritization.</a:t>
            </a: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327167" y="3824839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556247" y="3108960"/>
            <a:ext cx="2359153" cy="588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/>
              <a:t>Orchestrated Flow:</a:t>
            </a:r>
            <a:r>
              <a:rPr lang="en-US" sz="1200" dirty="0"/>
              <a:t> Logic-driven transition between diagnostic and tutoring.</a:t>
            </a:r>
          </a:p>
          <a:p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778240" y="48006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104C22-9F76-CC20-926E-DA2DF26A6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090FE29-E75C-61FD-47AA-0C6D97143C65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8197BA-4E23-C7E8-E745-62C7F24D185E}"/>
              </a:ext>
            </a:extLst>
          </p:cNvPr>
          <p:cNvSpPr/>
          <p:nvPr/>
        </p:nvSpPr>
        <p:spPr>
          <a:xfrm>
            <a:off x="33784" y="281774"/>
            <a:ext cx="2872314" cy="416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Base:</a:t>
            </a:r>
            <a:endParaRPr lang="en-US" sz="2200" dirty="0"/>
          </a:p>
          <a:p>
            <a:pPr marL="0" indent="0">
              <a:buNone/>
            </a:pP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708B5FA-BF7C-7561-A49E-DDCE682C8FE4}"/>
              </a:ext>
            </a:extLst>
          </p:cNvPr>
          <p:cNvSpPr/>
          <p:nvPr/>
        </p:nvSpPr>
        <p:spPr>
          <a:xfrm flipV="1">
            <a:off x="14232" y="994935"/>
            <a:ext cx="284327" cy="203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F966BC53-6170-CC9A-CA11-2CDD4E9EAD56}"/>
              </a:ext>
            </a:extLst>
          </p:cNvPr>
          <p:cNvSpPr/>
          <p:nvPr/>
        </p:nvSpPr>
        <p:spPr>
          <a:xfrm>
            <a:off x="2312301" y="859897"/>
            <a:ext cx="2069470" cy="247878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D22E18F4-DCBB-6772-1009-9658F3B318EC}"/>
              </a:ext>
            </a:extLst>
          </p:cNvPr>
          <p:cNvSpPr/>
          <p:nvPr/>
        </p:nvSpPr>
        <p:spPr>
          <a:xfrm>
            <a:off x="2324038" y="790686"/>
            <a:ext cx="2048074" cy="71465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78F9DABF-B933-C4BA-9D10-5D659850E4B4}"/>
              </a:ext>
            </a:extLst>
          </p:cNvPr>
          <p:cNvSpPr/>
          <p:nvPr/>
        </p:nvSpPr>
        <p:spPr>
          <a:xfrm>
            <a:off x="2647914" y="1626554"/>
            <a:ext cx="1325155" cy="335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/>
              <a:t> Nicos Weg (DW)</a:t>
            </a:r>
          </a:p>
          <a:p>
            <a:r>
              <a:rPr lang="en-US" sz="1000" cap="all" dirty="0"/>
              <a:t>Authentic Context</a:t>
            </a:r>
            <a:endParaRPr lang="en-US" sz="10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5F7CB358-4EAA-F48B-D2E3-CEE8C0710198}"/>
              </a:ext>
            </a:extLst>
          </p:cNvPr>
          <p:cNvSpPr/>
          <p:nvPr/>
        </p:nvSpPr>
        <p:spPr>
          <a:xfrm>
            <a:off x="2487840" y="2191734"/>
            <a:ext cx="1822821" cy="8520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/>
              <a:t>Transcripts providing situational dialogue for A1, A2, and B1 proficiency levels.</a:t>
            </a: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A4683C74-7624-7EE2-F51B-EE620F24D7CF}"/>
              </a:ext>
            </a:extLst>
          </p:cNvPr>
          <p:cNvSpPr/>
          <p:nvPr/>
        </p:nvSpPr>
        <p:spPr>
          <a:xfrm>
            <a:off x="6336792" y="2152650"/>
            <a:ext cx="2320747" cy="335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49E825D9-D4A3-7B6E-F000-157094783BBF}"/>
              </a:ext>
            </a:extLst>
          </p:cNvPr>
          <p:cNvSpPr/>
          <p:nvPr/>
        </p:nvSpPr>
        <p:spPr>
          <a:xfrm>
            <a:off x="6364224" y="2554986"/>
            <a:ext cx="2269175" cy="13565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E804B864-191A-6B5C-25AD-B3A8E3683D09}"/>
              </a:ext>
            </a:extLst>
          </p:cNvPr>
          <p:cNvSpPr/>
          <p:nvPr/>
        </p:nvSpPr>
        <p:spPr>
          <a:xfrm>
            <a:off x="228600" y="3501038"/>
            <a:ext cx="8686800" cy="1409290"/>
          </a:xfrm>
          <a:prstGeom prst="rect">
            <a:avLst/>
          </a:prstGeom>
          <a:solidFill>
            <a:srgbClr val="E8F0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D59292F5-152F-E1B3-ECE6-66E83B9EE32E}"/>
              </a:ext>
            </a:extLst>
          </p:cNvPr>
          <p:cNvSpPr/>
          <p:nvPr/>
        </p:nvSpPr>
        <p:spPr>
          <a:xfrm>
            <a:off x="365760" y="3370035"/>
            <a:ext cx="8412480" cy="15402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b="1" dirty="0"/>
              <a:t>Integration purpose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Grammar rules + Authentic dialogue create linguistic foundation.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Advanced reasoning validates complex language understanding.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Curriculum structure ensures systematic, pedagogically sound delivery.</a:t>
            </a:r>
          </a:p>
          <a:p>
            <a:r>
              <a:rPr lang="en-IN" sz="1200" b="1" dirty="0"/>
              <a:t>Ingestion Pipeline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Uses the all-MiniLM-L6-v2 embedding model to convert language data into semantic vectors stored in </a:t>
            </a:r>
            <a:r>
              <a:rPr lang="en-US" sz="1200" dirty="0" err="1"/>
              <a:t>PGVector</a:t>
            </a:r>
            <a:r>
              <a:rPr lang="en-US" sz="1200" dirty="0"/>
              <a:t> for context-aware retrieval[1].</a:t>
            </a:r>
            <a:endParaRPr lang="en-IN" sz="1200" b="1" dirty="0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85FAE862-BBF7-EC4E-84FC-B7419A914547}"/>
              </a:ext>
            </a:extLst>
          </p:cNvPr>
          <p:cNvSpPr/>
          <p:nvPr/>
        </p:nvSpPr>
        <p:spPr>
          <a:xfrm>
            <a:off x="6309360" y="195681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2B0CEA5E-26DA-08F0-F267-2B600DFDE544}"/>
              </a:ext>
            </a:extLst>
          </p:cNvPr>
          <p:cNvSpPr/>
          <p:nvPr/>
        </p:nvSpPr>
        <p:spPr>
          <a:xfrm>
            <a:off x="6336792" y="2359152"/>
            <a:ext cx="241401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51" name="Shape 7">
            <a:extLst>
              <a:ext uri="{FF2B5EF4-FFF2-40B4-BE49-F238E27FC236}">
                <a16:creationId xmlns:a16="http://schemas.microsoft.com/office/drawing/2014/main" id="{EA5931C9-DA69-5C3B-927A-1D2413507F60}"/>
              </a:ext>
            </a:extLst>
          </p:cNvPr>
          <p:cNvSpPr/>
          <p:nvPr/>
        </p:nvSpPr>
        <p:spPr>
          <a:xfrm>
            <a:off x="6803993" y="830035"/>
            <a:ext cx="2069470" cy="247878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8">
            <a:extLst>
              <a:ext uri="{FF2B5EF4-FFF2-40B4-BE49-F238E27FC236}">
                <a16:creationId xmlns:a16="http://schemas.microsoft.com/office/drawing/2014/main" id="{5DC1BF6D-8353-FBA8-4853-221419869EFD}"/>
              </a:ext>
            </a:extLst>
          </p:cNvPr>
          <p:cNvSpPr/>
          <p:nvPr/>
        </p:nvSpPr>
        <p:spPr>
          <a:xfrm>
            <a:off x="6825389" y="834280"/>
            <a:ext cx="2048074" cy="71465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10">
            <a:extLst>
              <a:ext uri="{FF2B5EF4-FFF2-40B4-BE49-F238E27FC236}">
                <a16:creationId xmlns:a16="http://schemas.microsoft.com/office/drawing/2014/main" id="{F668F0AD-6680-AE6D-B1B9-6ADF513A6285}"/>
              </a:ext>
            </a:extLst>
          </p:cNvPr>
          <p:cNvSpPr/>
          <p:nvPr/>
        </p:nvSpPr>
        <p:spPr>
          <a:xfrm>
            <a:off x="7175759" y="1630232"/>
            <a:ext cx="1325937" cy="37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b="1" dirty="0"/>
              <a:t>Nicos Curriculum</a:t>
            </a:r>
          </a:p>
          <a:p>
            <a:r>
              <a:rPr lang="en-IN" sz="1100" dirty="0"/>
              <a:t>Teaching structure</a:t>
            </a:r>
            <a:endParaRPr lang="en-US" sz="1100" dirty="0"/>
          </a:p>
        </p:txBody>
      </p:sp>
      <p:sp>
        <p:nvSpPr>
          <p:cNvPr id="57" name="Shape 7">
            <a:extLst>
              <a:ext uri="{FF2B5EF4-FFF2-40B4-BE49-F238E27FC236}">
                <a16:creationId xmlns:a16="http://schemas.microsoft.com/office/drawing/2014/main" id="{62439D4D-254A-FFFB-17C0-CD08D1ED54BF}"/>
              </a:ext>
            </a:extLst>
          </p:cNvPr>
          <p:cNvSpPr/>
          <p:nvPr/>
        </p:nvSpPr>
        <p:spPr>
          <a:xfrm>
            <a:off x="115304" y="804724"/>
            <a:ext cx="2069470" cy="247878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Shape 8">
            <a:extLst>
              <a:ext uri="{FF2B5EF4-FFF2-40B4-BE49-F238E27FC236}">
                <a16:creationId xmlns:a16="http://schemas.microsoft.com/office/drawing/2014/main" id="{02A76224-1F38-A256-E0F2-281051A42C89}"/>
              </a:ext>
            </a:extLst>
          </p:cNvPr>
          <p:cNvSpPr/>
          <p:nvPr/>
        </p:nvSpPr>
        <p:spPr>
          <a:xfrm>
            <a:off x="126002" y="799440"/>
            <a:ext cx="2048074" cy="71465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0" name="Image 1" descr="preencoded.png">
            <a:extLst>
              <a:ext uri="{FF2B5EF4-FFF2-40B4-BE49-F238E27FC236}">
                <a16:creationId xmlns:a16="http://schemas.microsoft.com/office/drawing/2014/main" id="{48E4157F-1B7B-7491-2DE2-981959778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88" y="1022750"/>
            <a:ext cx="464149" cy="464149"/>
          </a:xfrm>
          <a:prstGeom prst="rect">
            <a:avLst/>
          </a:prstGeom>
        </p:spPr>
      </p:pic>
      <p:sp>
        <p:nvSpPr>
          <p:cNvPr id="61" name="Text 10">
            <a:extLst>
              <a:ext uri="{FF2B5EF4-FFF2-40B4-BE49-F238E27FC236}">
                <a16:creationId xmlns:a16="http://schemas.microsoft.com/office/drawing/2014/main" id="{3862F17E-1778-026E-56B5-2EF5E369D405}"/>
              </a:ext>
            </a:extLst>
          </p:cNvPr>
          <p:cNvSpPr/>
          <p:nvPr/>
        </p:nvSpPr>
        <p:spPr>
          <a:xfrm>
            <a:off x="398302" y="1836582"/>
            <a:ext cx="1397801" cy="150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200" b="1" dirty="0" err="1"/>
              <a:t>DiscoResearch</a:t>
            </a:r>
            <a:endParaRPr lang="en-IN" sz="1200" b="1" dirty="0"/>
          </a:p>
          <a:p>
            <a:pPr algn="ctr"/>
            <a:r>
              <a:rPr lang="en-IN" sz="1000" cap="all" dirty="0"/>
              <a:t>Linguistic Core</a:t>
            </a:r>
            <a:br>
              <a:rPr lang="en-IN" sz="1000" dirty="0"/>
            </a:br>
            <a:br>
              <a:rPr lang="en-IN" sz="1000" dirty="0"/>
            </a:br>
            <a:endParaRPr lang="en-US" sz="1000" dirty="0"/>
          </a:p>
        </p:txBody>
      </p:sp>
      <p:sp>
        <p:nvSpPr>
          <p:cNvPr id="62" name="Text 11">
            <a:extLst>
              <a:ext uri="{FF2B5EF4-FFF2-40B4-BE49-F238E27FC236}">
                <a16:creationId xmlns:a16="http://schemas.microsoft.com/office/drawing/2014/main" id="{DE190F10-AB9B-2B17-DC93-52BCD0FCDB1F}"/>
              </a:ext>
            </a:extLst>
          </p:cNvPr>
          <p:cNvSpPr/>
          <p:nvPr/>
        </p:nvSpPr>
        <p:spPr>
          <a:xfrm>
            <a:off x="228600" y="2076361"/>
            <a:ext cx="1922888" cy="894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/>
              <a:t>Primary source for formal German grammar rules and structural linguistic patterns</a:t>
            </a:r>
          </a:p>
        </p:txBody>
      </p:sp>
      <p:sp>
        <p:nvSpPr>
          <p:cNvPr id="63" name="Shape 7">
            <a:extLst>
              <a:ext uri="{FF2B5EF4-FFF2-40B4-BE49-F238E27FC236}">
                <a16:creationId xmlns:a16="http://schemas.microsoft.com/office/drawing/2014/main" id="{113E1ADF-2D48-7845-24E4-329DE3D56294}"/>
              </a:ext>
            </a:extLst>
          </p:cNvPr>
          <p:cNvSpPr/>
          <p:nvPr/>
        </p:nvSpPr>
        <p:spPr>
          <a:xfrm>
            <a:off x="4514697" y="870905"/>
            <a:ext cx="2085260" cy="24319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4" name="Shape 8">
            <a:extLst>
              <a:ext uri="{FF2B5EF4-FFF2-40B4-BE49-F238E27FC236}">
                <a16:creationId xmlns:a16="http://schemas.microsoft.com/office/drawing/2014/main" id="{49000FF3-4AC3-1058-0FDF-859DE5B9C383}"/>
              </a:ext>
            </a:extLst>
          </p:cNvPr>
          <p:cNvSpPr/>
          <p:nvPr/>
        </p:nvSpPr>
        <p:spPr>
          <a:xfrm>
            <a:off x="4524451" y="815528"/>
            <a:ext cx="2048074" cy="71465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10">
            <a:extLst>
              <a:ext uri="{FF2B5EF4-FFF2-40B4-BE49-F238E27FC236}">
                <a16:creationId xmlns:a16="http://schemas.microsoft.com/office/drawing/2014/main" id="{A260F998-6EB7-19D5-B514-16C9C1E7EE55}"/>
              </a:ext>
            </a:extLst>
          </p:cNvPr>
          <p:cNvSpPr/>
          <p:nvPr/>
        </p:nvSpPr>
        <p:spPr>
          <a:xfrm>
            <a:off x="4849029" y="1659097"/>
            <a:ext cx="1460331" cy="297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b="1" dirty="0"/>
              <a:t>       </a:t>
            </a:r>
            <a:r>
              <a:rPr lang="en-IN" sz="1200" b="1" dirty="0" err="1"/>
              <a:t>Avemio</a:t>
            </a:r>
            <a:endParaRPr lang="en-IN" sz="1200" b="1" dirty="0"/>
          </a:p>
          <a:p>
            <a:r>
              <a:rPr lang="en-IN" sz="1000" cap="all" dirty="0"/>
              <a:t>Logical Reasoning</a:t>
            </a:r>
            <a:endParaRPr lang="en-US" sz="1000" dirty="0"/>
          </a:p>
        </p:txBody>
      </p:sp>
      <p:sp>
        <p:nvSpPr>
          <p:cNvPr id="68" name="Text 11">
            <a:extLst>
              <a:ext uri="{FF2B5EF4-FFF2-40B4-BE49-F238E27FC236}">
                <a16:creationId xmlns:a16="http://schemas.microsoft.com/office/drawing/2014/main" id="{74273A5E-49BB-B4C0-D232-26F061FDD2CA}"/>
              </a:ext>
            </a:extLst>
          </p:cNvPr>
          <p:cNvSpPr/>
          <p:nvPr/>
        </p:nvSpPr>
        <p:spPr>
          <a:xfrm>
            <a:off x="4639535" y="2434733"/>
            <a:ext cx="1886896" cy="721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/>
              <a:t>Complex reasoning tasks used to validate high-order comprehension and deduction.</a:t>
            </a:r>
          </a:p>
          <a:p>
            <a:br>
              <a:rPr lang="en-US" sz="1100" dirty="0"/>
            </a:br>
            <a:endParaRPr lang="en-US" sz="1100" dirty="0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7AF19A37-BD70-5E14-D1F8-63BBEDFBBA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583" y="927000"/>
            <a:ext cx="719358" cy="607908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C4DEE53B-F342-1EB4-D7CC-211087B743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7742" y="949200"/>
            <a:ext cx="739381" cy="705874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C56DC172-6DCC-6072-A047-653BB9D982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927000"/>
            <a:ext cx="671987" cy="637818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06D36A63-D912-BFBB-76C2-3132C2DE09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5638" y="921826"/>
            <a:ext cx="708810" cy="665995"/>
          </a:xfrm>
          <a:prstGeom prst="rect">
            <a:avLst/>
          </a:prstGeom>
        </p:spPr>
      </p:pic>
      <p:sp>
        <p:nvSpPr>
          <p:cNvPr id="87" name="Text 11">
            <a:extLst>
              <a:ext uri="{FF2B5EF4-FFF2-40B4-BE49-F238E27FC236}">
                <a16:creationId xmlns:a16="http://schemas.microsoft.com/office/drawing/2014/main" id="{3C8A1F0C-52F6-ECCC-E07F-77A1A420FAE5}"/>
              </a:ext>
            </a:extLst>
          </p:cNvPr>
          <p:cNvSpPr/>
          <p:nvPr/>
        </p:nvSpPr>
        <p:spPr>
          <a:xfrm>
            <a:off x="7029850" y="2082815"/>
            <a:ext cx="1674323" cy="8520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 err="1"/>
              <a:t>Lexipath</a:t>
            </a:r>
            <a:r>
              <a:rPr lang="en-US" sz="1200" dirty="0"/>
              <a:t> teaching structure Pedagogical Framework.</a:t>
            </a:r>
          </a:p>
        </p:txBody>
      </p:sp>
    </p:spTree>
    <p:extLst>
      <p:ext uri="{BB962C8B-B14F-4D97-AF65-F5344CB8AC3E}">
        <p14:creationId xmlns:p14="http://schemas.microsoft.com/office/powerpoint/2010/main" val="4027909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94F415-9190-714B-F0A9-05F1388CA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A725E44-B882-A29F-5595-E15C684CA4D0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C75B293-1BF0-86F2-0509-75071F7BEEE4}"/>
              </a:ext>
            </a:extLst>
          </p:cNvPr>
          <p:cNvSpPr/>
          <p:nvPr/>
        </p:nvSpPr>
        <p:spPr>
          <a:xfrm>
            <a:off x="33784" y="494834"/>
            <a:ext cx="5665976" cy="203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Diagnostic Test:</a:t>
            </a:r>
            <a:endParaRPr lang="en-US" sz="2200" dirty="0"/>
          </a:p>
          <a:p>
            <a:endParaRPr lang="en-US" sz="2200" dirty="0"/>
          </a:p>
          <a:p>
            <a:pPr marL="0" indent="0">
              <a:buNone/>
            </a:pP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DFF518F-DC37-73FF-0242-14B59FCEF978}"/>
              </a:ext>
            </a:extLst>
          </p:cNvPr>
          <p:cNvSpPr/>
          <p:nvPr/>
        </p:nvSpPr>
        <p:spPr>
          <a:xfrm flipV="1">
            <a:off x="14232" y="994935"/>
            <a:ext cx="284327" cy="203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139FB320-D766-D232-EB30-8A306D8795C6}"/>
              </a:ext>
            </a:extLst>
          </p:cNvPr>
          <p:cNvSpPr/>
          <p:nvPr/>
        </p:nvSpPr>
        <p:spPr>
          <a:xfrm>
            <a:off x="6364224" y="2554986"/>
            <a:ext cx="2269175" cy="13565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634C3A9B-3FF0-57C8-ECED-70BA189D5071}"/>
              </a:ext>
            </a:extLst>
          </p:cNvPr>
          <p:cNvSpPr/>
          <p:nvPr/>
        </p:nvSpPr>
        <p:spPr>
          <a:xfrm>
            <a:off x="228600" y="967574"/>
            <a:ext cx="8686800" cy="3942754"/>
          </a:xfrm>
          <a:prstGeom prst="rect">
            <a:avLst/>
          </a:prstGeom>
          <a:solidFill>
            <a:srgbClr val="E8F0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E5ED6742-FDF2-7BB8-4165-534CCF01675E}"/>
              </a:ext>
            </a:extLst>
          </p:cNvPr>
          <p:cNvSpPr/>
          <p:nvPr/>
        </p:nvSpPr>
        <p:spPr>
          <a:xfrm>
            <a:off x="298559" y="1007013"/>
            <a:ext cx="8479681" cy="39033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Adaptive Assessment Framework</a:t>
            </a:r>
          </a:p>
          <a:p>
            <a:r>
              <a:rPr lang="en-US" sz="1400" b="1" dirty="0"/>
              <a:t>Adaptive and dynamic language assessment engine: </a:t>
            </a:r>
            <a:r>
              <a:rPr lang="en-US" sz="1400" dirty="0"/>
              <a:t>The system evaluates learners through structured CEFR-based diagnostic tasks that specifically target key grammar skills.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Dynamic State Management</a:t>
            </a:r>
          </a:p>
          <a:p>
            <a:r>
              <a:rPr lang="en-US" sz="1400" b="1" dirty="0"/>
              <a:t>9-step diagnostic structure:</a:t>
            </a:r>
            <a:br>
              <a:rPr lang="en-US" sz="1400" dirty="0"/>
            </a:br>
            <a:r>
              <a:rPr lang="en-US" sz="1400" dirty="0"/>
              <a:t>The assessment consists of 3 grammar-focused questions per CEFR level. Each question carries 2 points, and the diagnostic stops when a learner scores below 50% at a level, ensuring precise proficiency evaluation.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Profile Integration and Learning Adaptation</a:t>
            </a:r>
          </a:p>
          <a:p>
            <a:r>
              <a:rPr lang="en-US" sz="1400" b="1" dirty="0"/>
              <a:t>Integrated learner results</a:t>
            </a:r>
            <a:r>
              <a:rPr lang="en-US" sz="1400" dirty="0"/>
              <a:t>: After completion, the engine updates grammar mastery records and assigns a final proficiency level (A1–B1). This data enables personalized lesson support, curriculum selection, and the adaptation of future learning content[3].</a:t>
            </a:r>
          </a:p>
          <a:p>
            <a:endParaRPr lang="en-IN" sz="1200" b="1" dirty="0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B9A1D7E8-B43A-D30F-6FF2-3AE914252023}"/>
              </a:ext>
            </a:extLst>
          </p:cNvPr>
          <p:cNvSpPr/>
          <p:nvPr/>
        </p:nvSpPr>
        <p:spPr>
          <a:xfrm>
            <a:off x="6336792" y="2359152"/>
            <a:ext cx="241401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83826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CAC713-793A-97DF-A85B-47DFDF239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Ba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marL="27432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Statefulness of the System</a:t>
            </a:r>
          </a:p>
        </p:txBody>
      </p:sp>
      <p:sp>
        <p:nvSpPr>
          <p:cNvPr id="102" name="Subtitle"/>
          <p:cNvSpPr/>
          <p:nvPr/>
        </p:nvSpPr>
        <p:spPr>
          <a:xfrm>
            <a:off x="274320" y="685800"/>
            <a:ext cx="8595360" cy="304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indent="0" algn="l">
              <a:buNone/>
            </a:pPr>
            <a:r>
              <a:rPr lang="en-US" sz="1200" b="0" i="1" dirty="0">
                <a:solidFill>
                  <a:srgbClr val="334155"/>
                </a:solidFill>
                <a:latin typeface="Calibri" pitchFamily="34" charset="0"/>
              </a:rPr>
              <a:t>LexiPath persists a structured learner model (JSON) across sessions via LangGraph — enabling grounded, personalized, and continuous instruction.</a:t>
            </a:r>
          </a:p>
        </p:txBody>
      </p:sp>
      <p:sp>
        <p:nvSpPr>
          <p:cNvPr id="103" name="Card1BG"/>
          <p:cNvSpPr/>
          <p:nvPr/>
        </p:nvSpPr>
        <p:spPr>
          <a:xfrm>
            <a:off x="274320" y="1066800"/>
            <a:ext cx="2676240" cy="3200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txBody>
          <a:bodyPr anchor="t"/>
          <a:lstStyle/>
          <a:p>
            <a:endParaRPr lang="en-US" sz="1000" dirty="0"/>
          </a:p>
        </p:txBody>
      </p:sp>
      <p:sp>
        <p:nvSpPr>
          <p:cNvPr id="104" name="Card1Header"/>
          <p:cNvSpPr/>
          <p:nvPr/>
        </p:nvSpPr>
        <p:spPr>
          <a:xfrm>
            <a:off x="274320" y="1066800"/>
            <a:ext cx="2676240" cy="4572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>
            <a:noFill/>
          </a:ln>
        </p:spPr>
        <p:txBody>
          <a:bodyPr anchor="ctr"/>
          <a:lstStyle/>
          <a:p>
            <a:pPr marL="91440" marR="9144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Persistent Learner Profile</a:t>
            </a:r>
          </a:p>
        </p:txBody>
      </p:sp>
      <p:sp>
        <p:nvSpPr>
          <p:cNvPr id="105" name="Card1Body"/>
          <p:cNvSpPr/>
          <p:nvPr/>
        </p:nvSpPr>
        <p:spPr>
          <a:xfrm>
            <a:off x="320040" y="1562400"/>
            <a:ext cx="2584800" cy="2628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91440" indent="-91440">
              <a:buChar char="●"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Structured JSON state</a:t>
            </a:r>
          </a:p>
          <a:p>
            <a:pPr marL="91440" indent="0">
              <a:buNone/>
            </a:pPr>
            <a:r>
              <a:rPr lang="en-US" sz="950" b="0" dirty="0">
                <a:solidFill>
                  <a:srgbClr val="334155"/>
                </a:solidFill>
                <a:latin typeface="Calibri"/>
              </a:rPr>
              <a:t>Learner model stored in learners.json via LangGraph state controller</a:t>
            </a:r>
          </a:p>
          <a:p>
            <a:endParaRPr lang="en-US" sz="900" dirty="0"/>
          </a:p>
          <a:p>
            <a:pPr marL="91440" indent="-91440">
              <a:buChar char="●"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CEFR level + diagnostic results</a:t>
            </a:r>
          </a:p>
          <a:p>
            <a:pPr marL="91440" indent="0">
              <a:buNone/>
            </a:pPr>
            <a:r>
              <a:rPr lang="en-US" sz="950" b="0" dirty="0">
                <a:solidFill>
                  <a:srgbClr val="334155"/>
                </a:solidFill>
                <a:latin typeface="Calibri"/>
              </a:rPr>
              <a:t>Initial A1–B1 placement from adaptive diagnostic, updated over time</a:t>
            </a:r>
          </a:p>
          <a:p>
            <a:endParaRPr lang="en-US" sz="900" dirty="0"/>
          </a:p>
          <a:p>
            <a:pPr marL="91440" indent="-91440">
              <a:buChar char="●"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Grammar mastery tracking</a:t>
            </a:r>
          </a:p>
          <a:p>
            <a:pPr marL="91440" indent="0">
              <a:buNone/>
            </a:pPr>
            <a:r>
              <a:rPr lang="en-US" sz="950" b="0" dirty="0">
                <a:solidFill>
                  <a:srgbClr val="334155"/>
                </a:solidFill>
                <a:latin typeface="Calibri"/>
              </a:rPr>
              <a:t>Per-topic mastery scores for articles, cases, verb conjugation, and sentence structure</a:t>
            </a:r>
          </a:p>
          <a:p>
            <a:endParaRPr lang="en-US" sz="900" dirty="0"/>
          </a:p>
          <a:p>
            <a:pPr marL="91440" indent="-91440">
              <a:buChar char="●"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Error patterns + weak areas</a:t>
            </a:r>
          </a:p>
          <a:p>
            <a:pPr marL="91440" indent="0">
              <a:buNone/>
            </a:pPr>
            <a:r>
              <a:rPr lang="en-US" sz="950" b="0" dirty="0">
                <a:solidFill>
                  <a:srgbClr val="334155"/>
                </a:solidFill>
                <a:latin typeface="Calibri"/>
              </a:rPr>
              <a:t>Logged per interaction; used to weight retrieval and prioritize practice topics</a:t>
            </a:r>
          </a:p>
        </p:txBody>
      </p:sp>
      <p:sp>
        <p:nvSpPr>
          <p:cNvPr id="106" name="Card2BG"/>
          <p:cNvSpPr/>
          <p:nvPr/>
        </p:nvSpPr>
        <p:spPr>
          <a:xfrm>
            <a:off x="3234960" y="1066800"/>
            <a:ext cx="2676240" cy="3200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E2761"/>
            </a:solidFill>
          </a:ln>
        </p:spPr>
        <p:txBody>
          <a:bodyPr anchor="t"/>
          <a:lstStyle/>
          <a:p>
            <a:endParaRPr lang="en-US" sz="1000" dirty="0"/>
          </a:p>
        </p:txBody>
      </p:sp>
      <p:sp>
        <p:nvSpPr>
          <p:cNvPr id="107" name="Card2Header"/>
          <p:cNvSpPr/>
          <p:nvPr/>
        </p:nvSpPr>
        <p:spPr>
          <a:xfrm>
            <a:off x="3234960" y="1066800"/>
            <a:ext cx="267624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marL="91440" marR="9144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Cross-Session Continuity</a:t>
            </a:r>
          </a:p>
        </p:txBody>
      </p:sp>
      <p:sp>
        <p:nvSpPr>
          <p:cNvPr id="108" name="Card2Body"/>
          <p:cNvSpPr/>
          <p:nvPr/>
        </p:nvSpPr>
        <p:spPr>
          <a:xfrm>
            <a:off x="3280680" y="1562400"/>
            <a:ext cx="2584800" cy="2628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91440" indent="-91440">
              <a:buChar char="●"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New vs. returning detection</a:t>
            </a:r>
          </a:p>
          <a:p>
            <a:pPr marL="91440" indent="0">
              <a:buNone/>
            </a:pPr>
            <a:r>
              <a:rPr lang="en-US" sz="950" b="0" dirty="0">
                <a:solidFill>
                  <a:srgbClr val="334155"/>
                </a:solidFill>
                <a:latin typeface="Calibri"/>
              </a:rPr>
              <a:t>System checks learners.json at login; returning learners skip the diagnostic</a:t>
            </a:r>
          </a:p>
          <a:p>
            <a:endParaRPr lang="en-US" sz="900" dirty="0"/>
          </a:p>
          <a:p>
            <a:pPr marL="91440" indent="-91440">
              <a:buChar char="●"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Session restored immediately</a:t>
            </a:r>
          </a:p>
          <a:p>
            <a:pPr marL="91440" indent="0">
              <a:buNone/>
            </a:pPr>
            <a:r>
              <a:rPr lang="en-US" sz="950" b="0" dirty="0">
                <a:solidFill>
                  <a:srgbClr val="334155"/>
                </a:solidFill>
                <a:latin typeface="Calibri"/>
              </a:rPr>
              <a:t>Prior level, weak areas, and interaction history all reloaded from persisted state[2]</a:t>
            </a:r>
          </a:p>
          <a:p>
            <a:endParaRPr lang="en-US" sz="900" dirty="0"/>
          </a:p>
          <a:p>
            <a:pPr marL="91440" indent="-91440">
              <a:buChar char="●"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Memory keyword hits</a:t>
            </a:r>
          </a:p>
          <a:p>
            <a:pPr marL="91440" indent="0">
              <a:buNone/>
            </a:pPr>
            <a:r>
              <a:rPr lang="en-US" sz="950" b="0" dirty="0">
                <a:solidFill>
                  <a:srgbClr val="334155"/>
                </a:solidFill>
                <a:latin typeface="Calibri"/>
              </a:rPr>
              <a:t>LexiPath scores 3/3 prior-signal reuse vs. 2 (Stateless RAG) and 1 (Zero-Shot)</a:t>
            </a:r>
          </a:p>
          <a:p>
            <a:endParaRPr lang="en-US" sz="900" dirty="0"/>
          </a:p>
          <a:p>
            <a:pPr marL="91440" indent="-91440">
              <a:buChar char="●"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Multi-session recall: Strong</a:t>
            </a:r>
          </a:p>
          <a:p>
            <a:pPr marL="91440" indent="0">
              <a:buNone/>
            </a:pPr>
            <a:r>
              <a:rPr lang="en-US" sz="950" b="0" dirty="0">
                <a:solidFill>
                  <a:srgbClr val="334155"/>
                </a:solidFill>
                <a:latin typeface="Calibri"/>
              </a:rPr>
              <a:t>Qualitatively rated Strong[5] vs. Moderate (Stateless) and Weak (Zero-Shot)</a:t>
            </a:r>
          </a:p>
        </p:txBody>
      </p:sp>
      <p:sp>
        <p:nvSpPr>
          <p:cNvPr id="109" name="Card3BG"/>
          <p:cNvSpPr/>
          <p:nvPr/>
        </p:nvSpPr>
        <p:spPr>
          <a:xfrm>
            <a:off x="6195600" y="1066800"/>
            <a:ext cx="2676240" cy="3200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txBody>
          <a:bodyPr anchor="t"/>
          <a:lstStyle/>
          <a:p>
            <a:endParaRPr lang="en-US" sz="1000" dirty="0"/>
          </a:p>
        </p:txBody>
      </p:sp>
      <p:sp>
        <p:nvSpPr>
          <p:cNvPr id="110" name="Card3Header"/>
          <p:cNvSpPr/>
          <p:nvPr/>
        </p:nvSpPr>
        <p:spPr>
          <a:xfrm>
            <a:off x="6195600" y="1066800"/>
            <a:ext cx="2676240" cy="4572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>
            <a:noFill/>
          </a:ln>
        </p:spPr>
        <p:txBody>
          <a:bodyPr anchor="ctr"/>
          <a:lstStyle/>
          <a:p>
            <a:pPr marL="91440" marR="9144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Adaptive State Updates</a:t>
            </a:r>
          </a:p>
        </p:txBody>
      </p:sp>
      <p:sp>
        <p:nvSpPr>
          <p:cNvPr id="111" name="Card3Body"/>
          <p:cNvSpPr/>
          <p:nvPr/>
        </p:nvSpPr>
        <p:spPr>
          <a:xfrm>
            <a:off x="6241320" y="1562400"/>
            <a:ext cx="2584800" cy="2628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91440" indent="-91440">
              <a:buChar char="●"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Post-interaction update node</a:t>
            </a:r>
          </a:p>
          <a:p>
            <a:pPr marL="91440" indent="0">
              <a:buNone/>
            </a:pPr>
            <a:r>
              <a:rPr lang="en-US" sz="950" b="0" dirty="0">
                <a:solidFill>
                  <a:srgbClr val="334155"/>
                </a:solidFill>
                <a:latin typeface="Calibri"/>
              </a:rPr>
              <a:t>LangGraph Update node fires after every Tutor response; writes new state to disk</a:t>
            </a:r>
          </a:p>
          <a:p>
            <a:endParaRPr lang="en-US" sz="900" dirty="0"/>
          </a:p>
          <a:p>
            <a:pPr marL="91440" indent="-91440">
              <a:buChar char="●"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Level progression or reinforcement</a:t>
            </a:r>
          </a:p>
          <a:p>
            <a:pPr marL="91440" indent="0">
              <a:buNone/>
            </a:pPr>
            <a:r>
              <a:rPr lang="en-US" sz="950" b="0" dirty="0">
                <a:solidFill>
                  <a:srgbClr val="334155"/>
                </a:solidFill>
                <a:latin typeface="Calibri"/>
              </a:rPr>
              <a:t>System advances the learner or revisits weak topics based on updated mastery signals</a:t>
            </a:r>
          </a:p>
          <a:p>
            <a:endParaRPr lang="en-US" sz="900" dirty="0"/>
          </a:p>
          <a:p>
            <a:pPr marL="91440" indent="-91440">
              <a:buChar char="●"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Retrieval conditioned on state</a:t>
            </a:r>
          </a:p>
          <a:p>
            <a:pPr marL="91440" indent="0">
              <a:buNone/>
            </a:pPr>
            <a:r>
              <a:rPr lang="en-US" sz="950" b="0" dirty="0">
                <a:solidFill>
                  <a:srgbClr val="334155"/>
                </a:solidFill>
                <a:latin typeface="Calibri"/>
              </a:rPr>
              <a:t>RAG queries filtered by CEFR level and weakness profile — 0% fallback rate achieved</a:t>
            </a:r>
          </a:p>
          <a:p>
            <a:endParaRPr lang="en-US" sz="900" dirty="0"/>
          </a:p>
          <a:p>
            <a:pPr marL="91440" indent="-91440">
              <a:buChar char="●"/>
            </a:pPr>
            <a:r>
              <a:rPr lang="en-US" sz="1050" b="1" dirty="0">
                <a:solidFill>
                  <a:srgbClr val="1E2761"/>
                </a:solidFill>
                <a:latin typeface="Calibri"/>
              </a:rPr>
              <a:t>Interpretable and portable</a:t>
            </a:r>
          </a:p>
          <a:p>
            <a:pPr marL="91440" indent="0">
              <a:buNone/>
            </a:pPr>
            <a:r>
              <a:rPr lang="en-US" sz="950" b="0" dirty="0">
                <a:solidFill>
                  <a:srgbClr val="334155"/>
                </a:solidFill>
                <a:latin typeface="Calibri"/>
              </a:rPr>
              <a:t>JSON format allows direct inspection of proficiency, errors, and progress — no black-box memory</a:t>
            </a:r>
          </a:p>
        </p:txBody>
      </p:sp>
      <p:sp>
        <p:nvSpPr>
          <p:cNvPr id="112" name="BottomBar"/>
          <p:cNvSpPr/>
          <p:nvPr/>
        </p:nvSpPr>
        <p:spPr>
          <a:xfrm>
            <a:off x="0" y="4572000"/>
            <a:ext cx="9144000" cy="514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marR="274320" indent="0" algn="r">
              <a:buNone/>
            </a:pPr>
            <a:r>
              <a:rPr lang="en-US" sz="900" b="0" dirty="0">
                <a:solidFill>
                  <a:srgbClr val="CADCFC"/>
                </a:solidFill>
                <a:latin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28789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76784" y="972989"/>
            <a:ext cx="129844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182880" y="960120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Learner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2880" y="1481328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vs. Returning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81328" y="1371600"/>
            <a:ext cx="256032" cy="0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645920" y="1221316"/>
            <a:ext cx="1298448" cy="914400"/>
          </a:xfrm>
          <a:prstGeom prst="rect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645920" y="1267036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LangGraph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45920" y="1788244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workflow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44368" y="1678516"/>
            <a:ext cx="256032" cy="0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136392" y="1537333"/>
            <a:ext cx="129844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3136392" y="1583053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Diagnostic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36392" y="2104261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 A1–B1 tasks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34840" y="1994533"/>
            <a:ext cx="256032" cy="0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26864" y="1840030"/>
            <a:ext cx="129844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26864" y="1885750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Personalized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26864" y="2406958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+ MiniLM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25312" y="2297230"/>
            <a:ext cx="256032" cy="0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117336" y="2126650"/>
            <a:ext cx="1298448" cy="914400"/>
          </a:xfrm>
          <a:prstGeom prst="rect">
            <a:avLst/>
          </a:prstGeom>
          <a:solidFill>
            <a:srgbClr val="2D3E8F"/>
          </a:solidFill>
          <a:ln w="12700">
            <a:solidFill>
              <a:srgbClr val="2D3E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117336" y="2172370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Adaptive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17336" y="2693578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Explain·Practice·Correct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415784" y="2583850"/>
            <a:ext cx="256032" cy="0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626096" y="2456003"/>
            <a:ext cx="129844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626096" y="2501723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State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&amp; Save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626096" y="3022931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learner.json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83464" y="4160520"/>
            <a:ext cx="86868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432304" y="41803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Adaptive Feedback Loop — repeated every session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248716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93192" y="2871216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3192" y="3236976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93192" y="3602736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93192" y="3986784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93192" y="4334256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182112" y="2137197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209544" y="2521245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209544" y="3233759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209544" y="3599519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364992" y="3968496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364992" y="4334256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025896" y="272651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053328" y="2652515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053328" y="331012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181344" y="3599519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336792" y="3968496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36792" y="4334256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778240" y="48006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77AFF6-734B-AA94-F318-EA9E75CF4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61B2803-55DF-1855-24AD-FBB14E80EE9A}"/>
              </a:ext>
            </a:extLst>
          </p:cNvPr>
          <p:cNvSpPr/>
          <p:nvPr/>
        </p:nvSpPr>
        <p:spPr>
          <a:xfrm>
            <a:off x="0" y="4332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8BF9C41-E105-001F-9FBE-DAB6672967FA}"/>
              </a:ext>
            </a:extLst>
          </p:cNvPr>
          <p:cNvSpPr/>
          <p:nvPr/>
        </p:nvSpPr>
        <p:spPr>
          <a:xfrm>
            <a:off x="274320" y="245685"/>
            <a:ext cx="8595360" cy="3919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Lexipath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Workflow: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3FE84D2-2DEB-017F-5071-61D34098D854}"/>
              </a:ext>
            </a:extLst>
          </p:cNvPr>
          <p:cNvSpPr/>
          <p:nvPr/>
        </p:nvSpPr>
        <p:spPr>
          <a:xfrm>
            <a:off x="338328" y="859536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61C1218-DFE1-6F27-2E8F-232C8161770B}"/>
              </a:ext>
            </a:extLst>
          </p:cNvPr>
          <p:cNvSpPr/>
          <p:nvPr/>
        </p:nvSpPr>
        <p:spPr>
          <a:xfrm>
            <a:off x="556582" y="2124937"/>
            <a:ext cx="2072640" cy="4262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DE6C958-7E33-A5CA-F8BB-E566546DE6AB}"/>
              </a:ext>
            </a:extLst>
          </p:cNvPr>
          <p:cNvSpPr/>
          <p:nvPr/>
        </p:nvSpPr>
        <p:spPr>
          <a:xfrm>
            <a:off x="538132" y="2644060"/>
            <a:ext cx="2353056" cy="449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50FDA85-735A-F4D5-587B-92FFF93BC08B}"/>
              </a:ext>
            </a:extLst>
          </p:cNvPr>
          <p:cNvSpPr/>
          <p:nvPr/>
        </p:nvSpPr>
        <p:spPr>
          <a:xfrm>
            <a:off x="512064" y="3362104"/>
            <a:ext cx="224942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FCF1DDB-F524-34E1-62C6-E651F3383818}"/>
              </a:ext>
            </a:extLst>
          </p:cNvPr>
          <p:cNvSpPr/>
          <p:nvPr/>
        </p:nvSpPr>
        <p:spPr>
          <a:xfrm>
            <a:off x="562356" y="3869716"/>
            <a:ext cx="2446020" cy="4325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84FB852-BA53-15EA-B174-13E7B9B9C424}"/>
              </a:ext>
            </a:extLst>
          </p:cNvPr>
          <p:cNvSpPr/>
          <p:nvPr/>
        </p:nvSpPr>
        <p:spPr>
          <a:xfrm>
            <a:off x="365760" y="35478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0556787-807F-D5FC-F98C-A5BDBC315B1D}"/>
              </a:ext>
            </a:extLst>
          </p:cNvPr>
          <p:cNvSpPr/>
          <p:nvPr/>
        </p:nvSpPr>
        <p:spPr>
          <a:xfrm>
            <a:off x="411480" y="382219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962DFCF-747D-7C80-DEA1-6F20A0D4CFDD}"/>
              </a:ext>
            </a:extLst>
          </p:cNvPr>
          <p:cNvSpPr/>
          <p:nvPr/>
        </p:nvSpPr>
        <p:spPr>
          <a:xfrm>
            <a:off x="411480" y="409651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4D9C2B9-89A8-010E-144D-A15B8F915BC2}"/>
              </a:ext>
            </a:extLst>
          </p:cNvPr>
          <p:cNvSpPr/>
          <p:nvPr/>
        </p:nvSpPr>
        <p:spPr>
          <a:xfrm>
            <a:off x="411480" y="437083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E691F55-CBD8-B9D7-DBF9-0A0823706ADF}"/>
              </a:ext>
            </a:extLst>
          </p:cNvPr>
          <p:cNvSpPr/>
          <p:nvPr/>
        </p:nvSpPr>
        <p:spPr>
          <a:xfrm>
            <a:off x="3310128" y="859536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5782C1E-7678-28D9-9E3A-397FA321404F}"/>
              </a:ext>
            </a:extLst>
          </p:cNvPr>
          <p:cNvSpPr/>
          <p:nvPr/>
        </p:nvSpPr>
        <p:spPr>
          <a:xfrm>
            <a:off x="3291840" y="11155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3950670-3CF3-914A-B56C-1B7865FDBB2A}"/>
              </a:ext>
            </a:extLst>
          </p:cNvPr>
          <p:cNvSpPr/>
          <p:nvPr/>
        </p:nvSpPr>
        <p:spPr>
          <a:xfrm>
            <a:off x="3593592" y="3751446"/>
            <a:ext cx="2331720" cy="5034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70A2A8E4-56BE-D87D-E48E-0C0F3F742513}"/>
              </a:ext>
            </a:extLst>
          </p:cNvPr>
          <p:cNvSpPr/>
          <p:nvPr/>
        </p:nvSpPr>
        <p:spPr>
          <a:xfrm>
            <a:off x="3337560" y="35478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8A9F2DA0-628B-0525-7414-9C01170340B6}"/>
              </a:ext>
            </a:extLst>
          </p:cNvPr>
          <p:cNvSpPr/>
          <p:nvPr/>
        </p:nvSpPr>
        <p:spPr>
          <a:xfrm>
            <a:off x="6281928" y="859536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8931989F-7D9A-14A0-EF50-E7F9F3FE5A9E}"/>
              </a:ext>
            </a:extLst>
          </p:cNvPr>
          <p:cNvSpPr/>
          <p:nvPr/>
        </p:nvSpPr>
        <p:spPr>
          <a:xfrm>
            <a:off x="6199632" y="1011134"/>
            <a:ext cx="2825495" cy="590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4EAA4F08-A3C9-CCE1-1E6F-AFEF2E1EE328}"/>
              </a:ext>
            </a:extLst>
          </p:cNvPr>
          <p:cNvSpPr/>
          <p:nvPr/>
        </p:nvSpPr>
        <p:spPr>
          <a:xfrm>
            <a:off x="6526530" y="2582217"/>
            <a:ext cx="2498598" cy="456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0B40F1FD-AF3D-5E9A-A77B-7B2E15406CFA}"/>
              </a:ext>
            </a:extLst>
          </p:cNvPr>
          <p:cNvSpPr/>
          <p:nvPr/>
        </p:nvSpPr>
        <p:spPr>
          <a:xfrm>
            <a:off x="6542532" y="3759387"/>
            <a:ext cx="2336292" cy="601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2788A6D3-00D7-9863-DE13-EE9AF1510002}"/>
              </a:ext>
            </a:extLst>
          </p:cNvPr>
          <p:cNvSpPr/>
          <p:nvPr/>
        </p:nvSpPr>
        <p:spPr>
          <a:xfrm>
            <a:off x="6556247" y="3108960"/>
            <a:ext cx="2359153" cy="588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05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C2DD9462-0C3D-09AC-3131-CD38140C260C}"/>
              </a:ext>
            </a:extLst>
          </p:cNvPr>
          <p:cNvSpPr/>
          <p:nvPr/>
        </p:nvSpPr>
        <p:spPr>
          <a:xfrm>
            <a:off x="8778240" y="48006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5</a:t>
            </a:r>
            <a:endParaRPr lang="en-US" sz="100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E538916F-19CD-1DD3-5836-DBCA02FE0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104" y="699276"/>
            <a:ext cx="4627031" cy="4288536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5CA11C13-A56D-CB1B-FF7F-864510A99EF8}"/>
              </a:ext>
            </a:extLst>
          </p:cNvPr>
          <p:cNvSpPr txBox="1"/>
          <p:nvPr/>
        </p:nvSpPr>
        <p:spPr>
          <a:xfrm>
            <a:off x="2226564" y="4884694"/>
            <a:ext cx="41018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Fig. 1 — </a:t>
            </a:r>
            <a:r>
              <a:rPr lang="en-US" sz="1400" b="1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LexiPath</a:t>
            </a:r>
            <a:r>
              <a:rPr lang="en-US" sz="14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stateful tutoring workflow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36553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A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172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marL="27432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Evaluation Results</a:t>
            </a:r>
            <a:r>
              <a:rPr lang="en-US" sz="1400" b="0" dirty="0">
                <a:solidFill>
                  <a:srgbClr val="A8C8D0"/>
                </a:solidFill>
                <a:latin typeface="Calibri"/>
              </a:rPr>
              <a:t>   ·   3 Systems × 3 Suites</a:t>
            </a:r>
          </a:p>
        </p:txBody>
      </p:sp>
      <p:sp>
        <p:nvSpPr>
          <p:cNvPr id="10" name="HdrZS"/>
          <p:cNvSpPr/>
          <p:nvPr/>
        </p:nvSpPr>
        <p:spPr>
          <a:xfrm>
            <a:off x="3040560" y="627380"/>
            <a:ext cx="1828800" cy="330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="ctr"/>
          <a:lstStyle/>
          <a:p>
            <a:pPr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Zero-Shot</a:t>
            </a:r>
          </a:p>
        </p:txBody>
      </p:sp>
      <p:sp>
        <p:nvSpPr>
          <p:cNvPr id="11" name="HdrRAG"/>
          <p:cNvSpPr/>
          <p:nvPr/>
        </p:nvSpPr>
        <p:spPr>
          <a:xfrm>
            <a:off x="4997640" y="627380"/>
            <a:ext cx="1828800" cy="330200"/>
          </a:xfrm>
          <a:prstGeom prst="rect">
            <a:avLst/>
          </a:prstGeom>
          <a:solidFill>
            <a:srgbClr val="2D3E8F"/>
          </a:solidFill>
          <a:ln>
            <a:noFill/>
          </a:ln>
        </p:spPr>
        <p:txBody>
          <a:bodyPr anchor="ctr"/>
          <a:lstStyle/>
          <a:p>
            <a:pPr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Stateless RAG</a:t>
            </a:r>
          </a:p>
        </p:txBody>
      </p:sp>
      <p:sp>
        <p:nvSpPr>
          <p:cNvPr id="12" name="HdrLP"/>
          <p:cNvSpPr/>
          <p:nvPr/>
        </p:nvSpPr>
        <p:spPr>
          <a:xfrm>
            <a:off x="6954720" y="627380"/>
            <a:ext cx="1960560" cy="330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="ctr"/>
          <a:lstStyle/>
          <a:p>
            <a:pPr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LexiPath ✔</a:t>
            </a:r>
          </a:p>
        </p:txBody>
      </p:sp>
      <p:sp>
        <p:nvSpPr>
          <p:cNvPr id="31" name="SecTutoring"/>
          <p:cNvSpPr/>
          <p:nvPr/>
        </p:nvSpPr>
        <p:spPr>
          <a:xfrm>
            <a:off x="182880" y="957580"/>
            <a:ext cx="8778240" cy="228600"/>
          </a:xfrm>
          <a:prstGeom prst="rect">
            <a:avLst/>
          </a:prstGeom>
          <a:solidFill>
            <a:srgbClr val="E8F4F6"/>
          </a:solidFill>
          <a:ln w="9525">
            <a:solidFill>
              <a:srgbClr val="028090"/>
            </a:solidFill>
          </a:ln>
        </p:spPr>
        <p:txBody>
          <a:bodyPr anchor="ctr"/>
          <a:lstStyle/>
          <a:p>
            <a:pPr marL="9144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/>
              </a:rPr>
              <a:t>TUTORING</a:t>
            </a:r>
          </a:p>
        </p:txBody>
      </p:sp>
      <p:sp>
        <p:nvSpPr>
          <p:cNvPr id="32" name="RL_Avg Resp"/>
          <p:cNvSpPr/>
          <p:nvPr/>
        </p:nvSpPr>
        <p:spPr>
          <a:xfrm>
            <a:off x="182880" y="1198880"/>
            <a:ext cx="2743200" cy="25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</a:ln>
        </p:spPr>
        <p:txBody>
          <a:bodyPr anchor="ctr"/>
          <a:lstStyle/>
          <a:p>
            <a:pPr marL="91440" indent="0">
              <a:buNone/>
            </a:pPr>
            <a:r>
              <a:rPr lang="en-US" sz="1000" b="0" dirty="0">
                <a:solidFill>
                  <a:srgbClr val="1E2761"/>
                </a:solidFill>
                <a:latin typeface="Calibri"/>
              </a:rPr>
              <a:t>Avg Response Length (chars)</a:t>
            </a:r>
          </a:p>
        </p:txBody>
      </p:sp>
      <p:sp>
        <p:nvSpPr>
          <p:cNvPr id="33" name="RZS_Avg Resp"/>
          <p:cNvSpPr/>
          <p:nvPr/>
        </p:nvSpPr>
        <p:spPr>
          <a:xfrm>
            <a:off x="3040560" y="1198880"/>
            <a:ext cx="1828800" cy="25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</a:ln>
        </p:spPr>
        <p:txBody>
          <a:bodyPr anchor="ctr"/>
          <a:lstStyle/>
          <a:p>
            <a:pPr indent="0" algn="ctr">
              <a:buNone/>
            </a:pPr>
            <a:r>
              <a:rPr lang="en-US" sz="1000" b="0" dirty="0">
                <a:solidFill>
                  <a:srgbClr val="64748B"/>
                </a:solidFill>
                <a:latin typeface="Calibri"/>
              </a:rPr>
              <a:t>176.5</a:t>
            </a:r>
          </a:p>
        </p:txBody>
      </p:sp>
      <p:sp>
        <p:nvSpPr>
          <p:cNvPr id="34" name="RRG_Avg Resp"/>
          <p:cNvSpPr/>
          <p:nvPr/>
        </p:nvSpPr>
        <p:spPr>
          <a:xfrm>
            <a:off x="4997640" y="1198880"/>
            <a:ext cx="1828800" cy="25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</a:ln>
        </p:spPr>
        <p:txBody>
          <a:bodyPr anchor="ctr"/>
          <a:lstStyle/>
          <a:p>
            <a:pPr indent="0" algn="ctr">
              <a:buNone/>
            </a:pPr>
            <a:r>
              <a:rPr lang="en-US" sz="1000" b="0" dirty="0">
                <a:solidFill>
                  <a:srgbClr val="2D3E8F"/>
                </a:solidFill>
                <a:latin typeface="Calibri"/>
              </a:rPr>
              <a:t>356.7</a:t>
            </a:r>
          </a:p>
        </p:txBody>
      </p:sp>
      <p:sp>
        <p:nvSpPr>
          <p:cNvPr id="35" name="RLP_Avg Resp"/>
          <p:cNvSpPr/>
          <p:nvPr/>
        </p:nvSpPr>
        <p:spPr>
          <a:xfrm>
            <a:off x="6954720" y="1198880"/>
            <a:ext cx="1960560" cy="254000"/>
          </a:xfrm>
          <a:prstGeom prst="rect">
            <a:avLst/>
          </a:prstGeom>
          <a:solidFill>
            <a:srgbClr val="E6F7F8"/>
          </a:solidFill>
          <a:ln w="6350">
            <a:solidFill>
              <a:srgbClr val="028090"/>
            </a:solidFill>
          </a:ln>
        </p:spPr>
        <p:txBody>
          <a:bodyPr anchor="ctr"/>
          <a:lstStyle/>
          <a:p>
            <a:pPr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/>
              </a:rPr>
              <a:t>402.4 ↑</a:t>
            </a:r>
          </a:p>
        </p:txBody>
      </p:sp>
      <p:sp>
        <p:nvSpPr>
          <p:cNvPr id="36" name="RL_Follow-u"/>
          <p:cNvSpPr/>
          <p:nvPr/>
        </p:nvSpPr>
        <p:spPr>
          <a:xfrm>
            <a:off x="182880" y="1465580"/>
            <a:ext cx="2743200" cy="254000"/>
          </a:xfrm>
          <a:prstGeom prst="rect">
            <a:avLst/>
          </a:prstGeom>
          <a:solidFill>
            <a:srgbClr val="F8FAFF"/>
          </a:solidFill>
          <a:ln w="6350">
            <a:solidFill>
              <a:srgbClr val="E0E7FF"/>
            </a:solidFill>
          </a:ln>
        </p:spPr>
        <p:txBody>
          <a:bodyPr anchor="ctr"/>
          <a:lstStyle/>
          <a:p>
            <a:pPr marL="91440" indent="0">
              <a:buNone/>
            </a:pPr>
            <a:r>
              <a:rPr lang="en-US" sz="1000" b="0" dirty="0">
                <a:solidFill>
                  <a:srgbClr val="1E2761"/>
                </a:solidFill>
                <a:latin typeface="Calibri"/>
              </a:rPr>
              <a:t>Follow-up Question Rate</a:t>
            </a:r>
          </a:p>
        </p:txBody>
      </p:sp>
      <p:sp>
        <p:nvSpPr>
          <p:cNvPr id="37" name="RZS_Follow-u"/>
          <p:cNvSpPr/>
          <p:nvPr/>
        </p:nvSpPr>
        <p:spPr>
          <a:xfrm>
            <a:off x="3040560" y="1465580"/>
            <a:ext cx="1828800" cy="254000"/>
          </a:xfrm>
          <a:prstGeom prst="rect">
            <a:avLst/>
          </a:prstGeom>
          <a:solidFill>
            <a:srgbClr val="F8FAFF"/>
          </a:solidFill>
          <a:ln w="6350">
            <a:solidFill>
              <a:srgbClr val="E0E7FF"/>
            </a:solidFill>
          </a:ln>
        </p:spPr>
        <p:txBody>
          <a:bodyPr anchor="ctr"/>
          <a:lstStyle/>
          <a:p>
            <a:pPr indent="0" algn="ctr">
              <a:buNone/>
            </a:pPr>
            <a:r>
              <a:rPr lang="en-US" sz="1000" b="0" dirty="0">
                <a:solidFill>
                  <a:srgbClr val="64748B"/>
                </a:solidFill>
                <a:latin typeface="Calibri"/>
              </a:rPr>
              <a:t>0.50</a:t>
            </a:r>
          </a:p>
        </p:txBody>
      </p:sp>
      <p:sp>
        <p:nvSpPr>
          <p:cNvPr id="38" name="RRG_Follow-u"/>
          <p:cNvSpPr/>
          <p:nvPr/>
        </p:nvSpPr>
        <p:spPr>
          <a:xfrm>
            <a:off x="4997640" y="1465580"/>
            <a:ext cx="1828800" cy="254000"/>
          </a:xfrm>
          <a:prstGeom prst="rect">
            <a:avLst/>
          </a:prstGeom>
          <a:solidFill>
            <a:srgbClr val="F8FAFF"/>
          </a:solidFill>
          <a:ln w="6350">
            <a:solidFill>
              <a:srgbClr val="E0E7FF"/>
            </a:solidFill>
          </a:ln>
        </p:spPr>
        <p:txBody>
          <a:bodyPr anchor="ctr"/>
          <a:lstStyle/>
          <a:p>
            <a:pPr indent="0" algn="ctr">
              <a:buNone/>
            </a:pPr>
            <a:r>
              <a:rPr lang="en-US" sz="1000" b="0" dirty="0">
                <a:solidFill>
                  <a:srgbClr val="2D3E8F"/>
                </a:solidFill>
                <a:latin typeface="Calibri"/>
              </a:rPr>
              <a:t>0.67</a:t>
            </a:r>
          </a:p>
        </p:txBody>
      </p:sp>
      <p:sp>
        <p:nvSpPr>
          <p:cNvPr id="39" name="RLP_Follow-u"/>
          <p:cNvSpPr/>
          <p:nvPr/>
        </p:nvSpPr>
        <p:spPr>
          <a:xfrm>
            <a:off x="6954720" y="1465580"/>
            <a:ext cx="1960560" cy="254000"/>
          </a:xfrm>
          <a:prstGeom prst="rect">
            <a:avLst/>
          </a:prstGeom>
          <a:solidFill>
            <a:srgbClr val="E6F7F8"/>
          </a:solidFill>
          <a:ln w="6350">
            <a:solidFill>
              <a:srgbClr val="028090"/>
            </a:solidFill>
          </a:ln>
        </p:spPr>
        <p:txBody>
          <a:bodyPr anchor="ctr"/>
          <a:lstStyle/>
          <a:p>
            <a:pPr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/>
              </a:rPr>
              <a:t>0.83 ↑</a:t>
            </a:r>
          </a:p>
        </p:txBody>
      </p:sp>
      <p:sp>
        <p:nvSpPr>
          <p:cNvPr id="40" name="RL_Retrieva"/>
          <p:cNvSpPr/>
          <p:nvPr/>
        </p:nvSpPr>
        <p:spPr>
          <a:xfrm>
            <a:off x="182880" y="1732280"/>
            <a:ext cx="2743200" cy="25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</a:ln>
        </p:spPr>
        <p:txBody>
          <a:bodyPr anchor="ctr"/>
          <a:lstStyle/>
          <a:p>
            <a:pPr marL="91440" indent="0">
              <a:buNone/>
            </a:pPr>
            <a:r>
              <a:rPr lang="en-US" sz="1000" b="0" dirty="0">
                <a:solidFill>
                  <a:srgbClr val="1E2761"/>
                </a:solidFill>
                <a:latin typeface="Calibri"/>
              </a:rPr>
              <a:t>Retrieval Turn Coverage</a:t>
            </a:r>
          </a:p>
        </p:txBody>
      </p:sp>
      <p:sp>
        <p:nvSpPr>
          <p:cNvPr id="41" name="RZS_Retrieva"/>
          <p:cNvSpPr/>
          <p:nvPr/>
        </p:nvSpPr>
        <p:spPr>
          <a:xfrm>
            <a:off x="3040560" y="1732280"/>
            <a:ext cx="1828800" cy="25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</a:ln>
        </p:spPr>
        <p:txBody>
          <a:bodyPr anchor="ctr"/>
          <a:lstStyle/>
          <a:p>
            <a:pPr indent="0" algn="ctr">
              <a:buNone/>
            </a:pPr>
            <a:r>
              <a:rPr lang="en-US" sz="1000" b="0" dirty="0">
                <a:solidFill>
                  <a:srgbClr val="64748B"/>
                </a:solidFill>
                <a:latin typeface="Calibri"/>
              </a:rPr>
              <a:t>0.0</a:t>
            </a:r>
          </a:p>
        </p:txBody>
      </p:sp>
      <p:sp>
        <p:nvSpPr>
          <p:cNvPr id="42" name="RRG_Retrieva"/>
          <p:cNvSpPr/>
          <p:nvPr/>
        </p:nvSpPr>
        <p:spPr>
          <a:xfrm>
            <a:off x="4997640" y="1732280"/>
            <a:ext cx="1828800" cy="25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</a:ln>
        </p:spPr>
        <p:txBody>
          <a:bodyPr anchor="ctr"/>
          <a:lstStyle/>
          <a:p>
            <a:pPr indent="0" algn="ctr">
              <a:buNone/>
            </a:pPr>
            <a:r>
              <a:rPr lang="en-US" sz="1000" b="0" dirty="0">
                <a:solidFill>
                  <a:srgbClr val="2D3E8F"/>
                </a:solidFill>
                <a:latin typeface="Calibri"/>
              </a:rPr>
              <a:t>1.0</a:t>
            </a:r>
          </a:p>
        </p:txBody>
      </p:sp>
      <p:sp>
        <p:nvSpPr>
          <p:cNvPr id="43" name="RLP_Retrieva"/>
          <p:cNvSpPr/>
          <p:nvPr/>
        </p:nvSpPr>
        <p:spPr>
          <a:xfrm>
            <a:off x="6954720" y="1732280"/>
            <a:ext cx="1960560" cy="254000"/>
          </a:xfrm>
          <a:prstGeom prst="rect">
            <a:avLst/>
          </a:prstGeom>
          <a:solidFill>
            <a:srgbClr val="E6F7F8"/>
          </a:solidFill>
          <a:ln w="6350">
            <a:solidFill>
              <a:srgbClr val="028090"/>
            </a:solidFill>
          </a:ln>
        </p:spPr>
        <p:txBody>
          <a:bodyPr anchor="ctr"/>
          <a:lstStyle/>
          <a:p>
            <a:pPr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/>
              </a:rPr>
              <a:t>1.0 ✓</a:t>
            </a:r>
          </a:p>
        </p:txBody>
      </p:sp>
      <p:sp>
        <p:nvSpPr>
          <p:cNvPr id="44" name="RL_Retrieva"/>
          <p:cNvSpPr/>
          <p:nvPr/>
        </p:nvSpPr>
        <p:spPr>
          <a:xfrm>
            <a:off x="182880" y="1998980"/>
            <a:ext cx="2743200" cy="254000"/>
          </a:xfrm>
          <a:prstGeom prst="rect">
            <a:avLst/>
          </a:prstGeom>
          <a:solidFill>
            <a:srgbClr val="F8FAFF"/>
          </a:solidFill>
          <a:ln w="6350">
            <a:solidFill>
              <a:srgbClr val="E0E7FF"/>
            </a:solidFill>
          </a:ln>
        </p:spPr>
        <p:txBody>
          <a:bodyPr anchor="ctr"/>
          <a:lstStyle/>
          <a:p>
            <a:pPr marL="91440" indent="0">
              <a:buNone/>
            </a:pPr>
            <a:r>
              <a:rPr lang="en-US" sz="1000" b="0" dirty="0">
                <a:solidFill>
                  <a:srgbClr val="1E2761"/>
                </a:solidFill>
                <a:latin typeface="Calibri"/>
              </a:rPr>
              <a:t>Retrieval Fallback Rate</a:t>
            </a:r>
          </a:p>
        </p:txBody>
      </p:sp>
      <p:sp>
        <p:nvSpPr>
          <p:cNvPr id="45" name="RZS_Retrieva"/>
          <p:cNvSpPr/>
          <p:nvPr/>
        </p:nvSpPr>
        <p:spPr>
          <a:xfrm>
            <a:off x="3040560" y="1998980"/>
            <a:ext cx="1828800" cy="254000"/>
          </a:xfrm>
          <a:prstGeom prst="rect">
            <a:avLst/>
          </a:prstGeom>
          <a:solidFill>
            <a:srgbClr val="F8FAFF"/>
          </a:solidFill>
          <a:ln w="6350">
            <a:solidFill>
              <a:srgbClr val="E0E7FF"/>
            </a:solidFill>
          </a:ln>
        </p:spPr>
        <p:txBody>
          <a:bodyPr anchor="ctr"/>
          <a:lstStyle/>
          <a:p>
            <a:pPr indent="0" algn="ctr">
              <a:buNone/>
            </a:pPr>
            <a:r>
              <a:rPr lang="en-US" sz="1000" b="0" dirty="0">
                <a:solidFill>
                  <a:srgbClr val="64748B"/>
                </a:solidFill>
                <a:latin typeface="Calibri"/>
              </a:rPr>
              <a:t>N/A</a:t>
            </a:r>
          </a:p>
        </p:txBody>
      </p:sp>
      <p:sp>
        <p:nvSpPr>
          <p:cNvPr id="46" name="RRG_Retrieva"/>
          <p:cNvSpPr/>
          <p:nvPr/>
        </p:nvSpPr>
        <p:spPr>
          <a:xfrm>
            <a:off x="4997640" y="1998980"/>
            <a:ext cx="1828800" cy="254000"/>
          </a:xfrm>
          <a:prstGeom prst="rect">
            <a:avLst/>
          </a:prstGeom>
          <a:solidFill>
            <a:srgbClr val="FFF0F0"/>
          </a:solidFill>
          <a:ln w="6350">
            <a:solidFill>
              <a:srgbClr val="E0E7FF"/>
            </a:solidFill>
          </a:ln>
        </p:spPr>
        <p:txBody>
          <a:bodyPr anchor="ctr"/>
          <a:lstStyle/>
          <a:p>
            <a:pPr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/>
              </a:rPr>
              <a:t>33.3% ⚠</a:t>
            </a:r>
          </a:p>
        </p:txBody>
      </p:sp>
      <p:sp>
        <p:nvSpPr>
          <p:cNvPr id="47" name="RLP_Retrieva"/>
          <p:cNvSpPr/>
          <p:nvPr/>
        </p:nvSpPr>
        <p:spPr>
          <a:xfrm>
            <a:off x="6954720" y="1998980"/>
            <a:ext cx="1960560" cy="254000"/>
          </a:xfrm>
          <a:prstGeom prst="rect">
            <a:avLst/>
          </a:prstGeom>
          <a:solidFill>
            <a:srgbClr val="E6F7F8"/>
          </a:solidFill>
          <a:ln w="6350">
            <a:solidFill>
              <a:srgbClr val="028090"/>
            </a:solidFill>
          </a:ln>
        </p:spPr>
        <p:txBody>
          <a:bodyPr anchor="ctr"/>
          <a:lstStyle/>
          <a:p>
            <a:pPr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/>
              </a:rPr>
              <a:t>0.0% ✓</a:t>
            </a:r>
          </a:p>
        </p:txBody>
      </p:sp>
      <p:sp>
        <p:nvSpPr>
          <p:cNvPr id="48" name="SecContinuity"/>
          <p:cNvSpPr/>
          <p:nvPr/>
        </p:nvSpPr>
        <p:spPr>
          <a:xfrm>
            <a:off x="182880" y="2278380"/>
            <a:ext cx="8778240" cy="228600"/>
          </a:xfrm>
          <a:prstGeom prst="rect">
            <a:avLst/>
          </a:prstGeom>
          <a:solidFill>
            <a:srgbClr val="E8F4F6"/>
          </a:solidFill>
          <a:ln w="9525">
            <a:solidFill>
              <a:srgbClr val="028090"/>
            </a:solidFill>
          </a:ln>
        </p:spPr>
        <p:txBody>
          <a:bodyPr anchor="ctr"/>
          <a:lstStyle/>
          <a:p>
            <a:pPr marL="9144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/>
              </a:rPr>
              <a:t>CONTINUITY</a:t>
            </a:r>
          </a:p>
        </p:txBody>
      </p:sp>
      <p:sp>
        <p:nvSpPr>
          <p:cNvPr id="49" name="RL_Memory K"/>
          <p:cNvSpPr/>
          <p:nvPr/>
        </p:nvSpPr>
        <p:spPr>
          <a:xfrm>
            <a:off x="182880" y="2519680"/>
            <a:ext cx="2743200" cy="25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</a:ln>
        </p:spPr>
        <p:txBody>
          <a:bodyPr anchor="ctr"/>
          <a:lstStyle/>
          <a:p>
            <a:pPr marL="91440" indent="0">
              <a:buNone/>
            </a:pPr>
            <a:r>
              <a:rPr lang="en-US" sz="1000" b="0" dirty="0">
                <a:solidFill>
                  <a:srgbClr val="1E2761"/>
                </a:solidFill>
                <a:latin typeface="Calibri"/>
              </a:rPr>
              <a:t>Memory Keyword Hits (avg)</a:t>
            </a:r>
          </a:p>
        </p:txBody>
      </p:sp>
      <p:sp>
        <p:nvSpPr>
          <p:cNvPr id="50" name="RZS_Memory K"/>
          <p:cNvSpPr/>
          <p:nvPr/>
        </p:nvSpPr>
        <p:spPr>
          <a:xfrm>
            <a:off x="3040560" y="2519680"/>
            <a:ext cx="1828800" cy="25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</a:ln>
        </p:spPr>
        <p:txBody>
          <a:bodyPr anchor="ctr"/>
          <a:lstStyle/>
          <a:p>
            <a:pPr indent="0" algn="ctr">
              <a:buNone/>
            </a:pPr>
            <a:r>
              <a:rPr lang="en-US" sz="1000" b="0" dirty="0">
                <a:solidFill>
                  <a:srgbClr val="64748B"/>
                </a:solidFill>
                <a:latin typeface="Calibri"/>
              </a:rPr>
              <a:t>1.0</a:t>
            </a:r>
          </a:p>
        </p:txBody>
      </p:sp>
      <p:sp>
        <p:nvSpPr>
          <p:cNvPr id="51" name="RRG_Memory K"/>
          <p:cNvSpPr/>
          <p:nvPr/>
        </p:nvSpPr>
        <p:spPr>
          <a:xfrm>
            <a:off x="4997640" y="2519680"/>
            <a:ext cx="1828800" cy="25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</a:ln>
        </p:spPr>
        <p:txBody>
          <a:bodyPr anchor="ctr"/>
          <a:lstStyle/>
          <a:p>
            <a:pPr indent="0" algn="ctr">
              <a:buNone/>
            </a:pPr>
            <a:r>
              <a:rPr lang="en-US" sz="1000" b="0" dirty="0">
                <a:solidFill>
                  <a:srgbClr val="2D3E8F"/>
                </a:solidFill>
                <a:latin typeface="Calibri"/>
              </a:rPr>
              <a:t>2.0</a:t>
            </a:r>
          </a:p>
        </p:txBody>
      </p:sp>
      <p:sp>
        <p:nvSpPr>
          <p:cNvPr id="52" name="RLP_Memory K"/>
          <p:cNvSpPr/>
          <p:nvPr/>
        </p:nvSpPr>
        <p:spPr>
          <a:xfrm>
            <a:off x="6954720" y="2519680"/>
            <a:ext cx="1960560" cy="254000"/>
          </a:xfrm>
          <a:prstGeom prst="rect">
            <a:avLst/>
          </a:prstGeom>
          <a:solidFill>
            <a:srgbClr val="E6F7F8"/>
          </a:solidFill>
          <a:ln w="6350">
            <a:solidFill>
              <a:srgbClr val="028090"/>
            </a:solidFill>
          </a:ln>
        </p:spPr>
        <p:txBody>
          <a:bodyPr anchor="ctr"/>
          <a:lstStyle/>
          <a:p>
            <a:pPr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/>
              </a:rPr>
              <a:t>3.0 ↑</a:t>
            </a:r>
          </a:p>
        </p:txBody>
      </p:sp>
      <p:sp>
        <p:nvSpPr>
          <p:cNvPr id="53" name="RL_Multi-Se"/>
          <p:cNvSpPr/>
          <p:nvPr/>
        </p:nvSpPr>
        <p:spPr>
          <a:xfrm>
            <a:off x="182880" y="2786380"/>
            <a:ext cx="2743200" cy="254000"/>
          </a:xfrm>
          <a:prstGeom prst="rect">
            <a:avLst/>
          </a:prstGeom>
          <a:solidFill>
            <a:srgbClr val="F8FAFF"/>
          </a:solidFill>
          <a:ln w="6350">
            <a:solidFill>
              <a:srgbClr val="E0E7FF"/>
            </a:solidFill>
          </a:ln>
        </p:spPr>
        <p:txBody>
          <a:bodyPr anchor="ctr"/>
          <a:lstStyle/>
          <a:p>
            <a:pPr marL="91440" indent="0">
              <a:buNone/>
            </a:pPr>
            <a:r>
              <a:rPr lang="en-US" sz="1000" b="0" dirty="0">
                <a:solidFill>
                  <a:srgbClr val="1E2761"/>
                </a:solidFill>
                <a:latin typeface="Calibri"/>
              </a:rPr>
              <a:t>Multi-Session Recall</a:t>
            </a:r>
          </a:p>
        </p:txBody>
      </p:sp>
      <p:sp>
        <p:nvSpPr>
          <p:cNvPr id="54" name="RZS_Multi-Se"/>
          <p:cNvSpPr/>
          <p:nvPr/>
        </p:nvSpPr>
        <p:spPr>
          <a:xfrm>
            <a:off x="3040560" y="2786380"/>
            <a:ext cx="1828800" cy="254000"/>
          </a:xfrm>
          <a:prstGeom prst="rect">
            <a:avLst/>
          </a:prstGeom>
          <a:solidFill>
            <a:srgbClr val="F8FAFF"/>
          </a:solidFill>
          <a:ln w="6350">
            <a:solidFill>
              <a:srgbClr val="E0E7FF"/>
            </a:solidFill>
          </a:ln>
        </p:spPr>
        <p:txBody>
          <a:bodyPr anchor="ctr"/>
          <a:lstStyle/>
          <a:p>
            <a:pPr indent="0" algn="ctr">
              <a:buNone/>
            </a:pPr>
            <a:r>
              <a:rPr lang="en-US" sz="1000" b="0" dirty="0">
                <a:solidFill>
                  <a:srgbClr val="64748B"/>
                </a:solidFill>
                <a:latin typeface="Calibri"/>
              </a:rPr>
              <a:t>Weak</a:t>
            </a:r>
          </a:p>
        </p:txBody>
      </p:sp>
      <p:sp>
        <p:nvSpPr>
          <p:cNvPr id="55" name="RRG_Multi-Se"/>
          <p:cNvSpPr/>
          <p:nvPr/>
        </p:nvSpPr>
        <p:spPr>
          <a:xfrm>
            <a:off x="4997640" y="2786380"/>
            <a:ext cx="1828800" cy="254000"/>
          </a:xfrm>
          <a:prstGeom prst="rect">
            <a:avLst/>
          </a:prstGeom>
          <a:solidFill>
            <a:srgbClr val="F8FAFF"/>
          </a:solidFill>
          <a:ln w="6350">
            <a:solidFill>
              <a:srgbClr val="E0E7FF"/>
            </a:solidFill>
          </a:ln>
        </p:spPr>
        <p:txBody>
          <a:bodyPr anchor="ctr"/>
          <a:lstStyle/>
          <a:p>
            <a:pPr indent="0" algn="ctr">
              <a:buNone/>
            </a:pPr>
            <a:r>
              <a:rPr lang="en-US" sz="1000" b="0" dirty="0">
                <a:solidFill>
                  <a:srgbClr val="2D3E8F"/>
                </a:solidFill>
                <a:latin typeface="Calibri"/>
              </a:rPr>
              <a:t>Moderate</a:t>
            </a:r>
          </a:p>
        </p:txBody>
      </p:sp>
      <p:sp>
        <p:nvSpPr>
          <p:cNvPr id="56" name="RLP_Multi-Se"/>
          <p:cNvSpPr/>
          <p:nvPr/>
        </p:nvSpPr>
        <p:spPr>
          <a:xfrm>
            <a:off x="6954720" y="2786380"/>
            <a:ext cx="1960560" cy="254000"/>
          </a:xfrm>
          <a:prstGeom prst="rect">
            <a:avLst/>
          </a:prstGeom>
          <a:solidFill>
            <a:srgbClr val="E6F7F8"/>
          </a:solidFill>
          <a:ln w="6350">
            <a:solidFill>
              <a:srgbClr val="028090"/>
            </a:solidFill>
          </a:ln>
        </p:spPr>
        <p:txBody>
          <a:bodyPr anchor="ctr"/>
          <a:lstStyle/>
          <a:p>
            <a:pPr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/>
              </a:rPr>
              <a:t>Strong ✓</a:t>
            </a:r>
          </a:p>
        </p:txBody>
      </p:sp>
      <p:sp>
        <p:nvSpPr>
          <p:cNvPr id="57" name="RL_Continui"/>
          <p:cNvSpPr/>
          <p:nvPr/>
        </p:nvSpPr>
        <p:spPr>
          <a:xfrm>
            <a:off x="182880" y="3053080"/>
            <a:ext cx="2743200" cy="25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</a:ln>
        </p:spPr>
        <p:txBody>
          <a:bodyPr anchor="ctr"/>
          <a:lstStyle/>
          <a:p>
            <a:pPr marL="91440" indent="0">
              <a:buNone/>
            </a:pPr>
            <a:r>
              <a:rPr lang="en-US" sz="1000" b="0" dirty="0">
                <a:solidFill>
                  <a:srgbClr val="1E2761"/>
                </a:solidFill>
                <a:latin typeface="Calibri"/>
              </a:rPr>
              <a:t>Continuity Follow-up Rate</a:t>
            </a:r>
          </a:p>
        </p:txBody>
      </p:sp>
      <p:sp>
        <p:nvSpPr>
          <p:cNvPr id="58" name="RZS_Continui"/>
          <p:cNvSpPr/>
          <p:nvPr/>
        </p:nvSpPr>
        <p:spPr>
          <a:xfrm>
            <a:off x="3040560" y="3053080"/>
            <a:ext cx="1828800" cy="25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</a:ln>
        </p:spPr>
        <p:txBody>
          <a:bodyPr anchor="ctr"/>
          <a:lstStyle/>
          <a:p>
            <a:pPr indent="0" algn="ctr">
              <a:buNone/>
            </a:pPr>
            <a:r>
              <a:rPr lang="en-US" sz="1000" b="0" dirty="0">
                <a:solidFill>
                  <a:srgbClr val="64748B"/>
                </a:solidFill>
                <a:latin typeface="Calibri"/>
              </a:rPr>
              <a:t>0.50</a:t>
            </a:r>
          </a:p>
        </p:txBody>
      </p:sp>
      <p:sp>
        <p:nvSpPr>
          <p:cNvPr id="59" name="RRG_Continui"/>
          <p:cNvSpPr/>
          <p:nvPr/>
        </p:nvSpPr>
        <p:spPr>
          <a:xfrm>
            <a:off x="4997640" y="3053080"/>
            <a:ext cx="1828800" cy="25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</a:ln>
        </p:spPr>
        <p:txBody>
          <a:bodyPr anchor="ctr"/>
          <a:lstStyle/>
          <a:p>
            <a:pPr indent="0" algn="ctr">
              <a:buNone/>
            </a:pPr>
            <a:r>
              <a:rPr lang="en-US" sz="1000" b="0" dirty="0">
                <a:solidFill>
                  <a:srgbClr val="2D3E8F"/>
                </a:solidFill>
                <a:latin typeface="Calibri"/>
              </a:rPr>
              <a:t>0.67</a:t>
            </a:r>
          </a:p>
        </p:txBody>
      </p:sp>
      <p:sp>
        <p:nvSpPr>
          <p:cNvPr id="60" name="RLP_Continui"/>
          <p:cNvSpPr/>
          <p:nvPr/>
        </p:nvSpPr>
        <p:spPr>
          <a:xfrm>
            <a:off x="6954720" y="3053080"/>
            <a:ext cx="1960560" cy="254000"/>
          </a:xfrm>
          <a:prstGeom prst="rect">
            <a:avLst/>
          </a:prstGeom>
          <a:solidFill>
            <a:srgbClr val="E6F7F8"/>
          </a:solidFill>
          <a:ln w="6350">
            <a:solidFill>
              <a:srgbClr val="028090"/>
            </a:solidFill>
          </a:ln>
        </p:spPr>
        <p:txBody>
          <a:bodyPr anchor="ctr"/>
          <a:lstStyle/>
          <a:p>
            <a:pPr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/>
              </a:rPr>
              <a:t>0.83 ↑</a:t>
            </a:r>
          </a:p>
        </p:txBody>
      </p:sp>
      <p:sp>
        <p:nvSpPr>
          <p:cNvPr id="61" name="SecDiagnosis"/>
          <p:cNvSpPr/>
          <p:nvPr/>
        </p:nvSpPr>
        <p:spPr>
          <a:xfrm>
            <a:off x="182880" y="3332480"/>
            <a:ext cx="8778240" cy="228600"/>
          </a:xfrm>
          <a:prstGeom prst="rect">
            <a:avLst/>
          </a:prstGeom>
          <a:solidFill>
            <a:srgbClr val="E8F4F6"/>
          </a:solidFill>
          <a:ln w="9525">
            <a:solidFill>
              <a:srgbClr val="028090"/>
            </a:solidFill>
          </a:ln>
        </p:spPr>
        <p:txBody>
          <a:bodyPr anchor="ctr"/>
          <a:lstStyle/>
          <a:p>
            <a:pPr marL="9144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/>
              </a:rPr>
              <a:t>DIAGNOSIS</a:t>
            </a:r>
          </a:p>
        </p:txBody>
      </p:sp>
      <p:sp>
        <p:nvSpPr>
          <p:cNvPr id="62" name="RL_CEFR Lev"/>
          <p:cNvSpPr/>
          <p:nvPr/>
        </p:nvSpPr>
        <p:spPr>
          <a:xfrm>
            <a:off x="182880" y="3573780"/>
            <a:ext cx="2743200" cy="25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</a:ln>
        </p:spPr>
        <p:txBody>
          <a:bodyPr anchor="ctr"/>
          <a:lstStyle/>
          <a:p>
            <a:pPr marL="91440" indent="0">
              <a:buNone/>
            </a:pPr>
            <a:r>
              <a:rPr lang="en-US" sz="1000" b="0" dirty="0">
                <a:solidFill>
                  <a:srgbClr val="1E2761"/>
                </a:solidFill>
                <a:latin typeface="Calibri"/>
              </a:rPr>
              <a:t>CEFR Level Accuracy</a:t>
            </a:r>
          </a:p>
        </p:txBody>
      </p:sp>
      <p:sp>
        <p:nvSpPr>
          <p:cNvPr id="63" name="RZS_CEFR Lev"/>
          <p:cNvSpPr/>
          <p:nvPr/>
        </p:nvSpPr>
        <p:spPr>
          <a:xfrm>
            <a:off x="3040560" y="3573780"/>
            <a:ext cx="1828800" cy="25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</a:ln>
        </p:spPr>
        <p:txBody>
          <a:bodyPr anchor="ctr"/>
          <a:lstStyle/>
          <a:p>
            <a:pPr indent="0" algn="ctr">
              <a:buNone/>
            </a:pPr>
            <a:r>
              <a:rPr lang="en-US" sz="1000" b="0" dirty="0">
                <a:solidFill>
                  <a:srgbClr val="64748B"/>
                </a:solidFill>
                <a:latin typeface="Calibri"/>
              </a:rPr>
              <a:t>100%</a:t>
            </a:r>
          </a:p>
        </p:txBody>
      </p:sp>
      <p:sp>
        <p:nvSpPr>
          <p:cNvPr id="64" name="RRG_CEFR Lev"/>
          <p:cNvSpPr/>
          <p:nvPr/>
        </p:nvSpPr>
        <p:spPr>
          <a:xfrm>
            <a:off x="4997640" y="3573780"/>
            <a:ext cx="1828800" cy="25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</a:ln>
        </p:spPr>
        <p:txBody>
          <a:bodyPr anchor="ctr"/>
          <a:lstStyle/>
          <a:p>
            <a:pPr indent="0" algn="ctr">
              <a:buNone/>
            </a:pPr>
            <a:r>
              <a:rPr lang="en-US" sz="1000" b="0" dirty="0">
                <a:solidFill>
                  <a:srgbClr val="2D3E8F"/>
                </a:solidFill>
                <a:latin typeface="Calibri"/>
              </a:rPr>
              <a:t>100%</a:t>
            </a:r>
          </a:p>
        </p:txBody>
      </p:sp>
      <p:sp>
        <p:nvSpPr>
          <p:cNvPr id="65" name="RLP_CEFR Lev"/>
          <p:cNvSpPr/>
          <p:nvPr/>
        </p:nvSpPr>
        <p:spPr>
          <a:xfrm>
            <a:off x="6954720" y="3573780"/>
            <a:ext cx="1960560" cy="254000"/>
          </a:xfrm>
          <a:prstGeom prst="rect">
            <a:avLst/>
          </a:prstGeom>
          <a:solidFill>
            <a:srgbClr val="E6F7F8"/>
          </a:solidFill>
          <a:ln w="6350">
            <a:solidFill>
              <a:srgbClr val="028090"/>
            </a:solidFill>
          </a:ln>
        </p:spPr>
        <p:txBody>
          <a:bodyPr anchor="ctr"/>
          <a:lstStyle/>
          <a:p>
            <a:pPr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/>
              </a:rPr>
              <a:t>100% — shared module</a:t>
            </a:r>
          </a:p>
        </p:txBody>
      </p:sp>
      <p:sp>
        <p:nvSpPr>
          <p:cNvPr id="66" name="RL_Avg Diag"/>
          <p:cNvSpPr/>
          <p:nvPr/>
        </p:nvSpPr>
        <p:spPr>
          <a:xfrm>
            <a:off x="182880" y="3840480"/>
            <a:ext cx="2743200" cy="254000"/>
          </a:xfrm>
          <a:prstGeom prst="rect">
            <a:avLst/>
          </a:prstGeom>
          <a:solidFill>
            <a:srgbClr val="F8FAFF"/>
          </a:solidFill>
          <a:ln w="6350">
            <a:solidFill>
              <a:srgbClr val="E0E7FF"/>
            </a:solidFill>
          </a:ln>
        </p:spPr>
        <p:txBody>
          <a:bodyPr anchor="ctr"/>
          <a:lstStyle/>
          <a:p>
            <a:pPr marL="91440" indent="0">
              <a:buNone/>
            </a:pPr>
            <a:r>
              <a:rPr lang="en-US" sz="1000" b="0" dirty="0">
                <a:solidFill>
                  <a:srgbClr val="1E2761"/>
                </a:solidFill>
                <a:latin typeface="Calibri"/>
              </a:rPr>
              <a:t>Avg Diagnostic Turns</a:t>
            </a:r>
          </a:p>
        </p:txBody>
      </p:sp>
      <p:sp>
        <p:nvSpPr>
          <p:cNvPr id="67" name="RZS_Avg Diag"/>
          <p:cNvSpPr/>
          <p:nvPr/>
        </p:nvSpPr>
        <p:spPr>
          <a:xfrm>
            <a:off x="3040560" y="3840480"/>
            <a:ext cx="1828800" cy="254000"/>
          </a:xfrm>
          <a:prstGeom prst="rect">
            <a:avLst/>
          </a:prstGeom>
          <a:solidFill>
            <a:srgbClr val="F8FAFF"/>
          </a:solidFill>
          <a:ln w="6350">
            <a:solidFill>
              <a:srgbClr val="E0E7FF"/>
            </a:solidFill>
          </a:ln>
        </p:spPr>
        <p:txBody>
          <a:bodyPr anchor="ctr"/>
          <a:lstStyle/>
          <a:p>
            <a:pPr indent="0" algn="ctr">
              <a:buNone/>
            </a:pPr>
            <a:r>
              <a:rPr lang="en-US" sz="1000" b="0" dirty="0">
                <a:solidFill>
                  <a:srgbClr val="64748B"/>
                </a:solidFill>
                <a:latin typeface="Calibri"/>
              </a:rPr>
              <a:t>3.0</a:t>
            </a:r>
          </a:p>
        </p:txBody>
      </p:sp>
      <p:sp>
        <p:nvSpPr>
          <p:cNvPr id="68" name="RRG_Avg Diag"/>
          <p:cNvSpPr/>
          <p:nvPr/>
        </p:nvSpPr>
        <p:spPr>
          <a:xfrm>
            <a:off x="4997640" y="3840480"/>
            <a:ext cx="1828800" cy="254000"/>
          </a:xfrm>
          <a:prstGeom prst="rect">
            <a:avLst/>
          </a:prstGeom>
          <a:solidFill>
            <a:srgbClr val="F8FAFF"/>
          </a:solidFill>
          <a:ln w="6350">
            <a:solidFill>
              <a:srgbClr val="E0E7FF"/>
            </a:solidFill>
          </a:ln>
        </p:spPr>
        <p:txBody>
          <a:bodyPr anchor="ctr"/>
          <a:lstStyle/>
          <a:p>
            <a:pPr indent="0" algn="ctr">
              <a:buNone/>
            </a:pPr>
            <a:r>
              <a:rPr lang="en-US" sz="1000" b="0" dirty="0">
                <a:solidFill>
                  <a:srgbClr val="2D3E8F"/>
                </a:solidFill>
                <a:latin typeface="Calibri"/>
              </a:rPr>
              <a:t>3.0</a:t>
            </a:r>
          </a:p>
        </p:txBody>
      </p:sp>
      <p:sp>
        <p:nvSpPr>
          <p:cNvPr id="69" name="RLP_Avg Diag"/>
          <p:cNvSpPr/>
          <p:nvPr/>
        </p:nvSpPr>
        <p:spPr>
          <a:xfrm>
            <a:off x="6954720" y="3840480"/>
            <a:ext cx="1960560" cy="254000"/>
          </a:xfrm>
          <a:prstGeom prst="rect">
            <a:avLst/>
          </a:prstGeom>
          <a:solidFill>
            <a:srgbClr val="E6F7F8"/>
          </a:solidFill>
          <a:ln w="6350">
            <a:solidFill>
              <a:srgbClr val="028090"/>
            </a:solidFill>
          </a:ln>
        </p:spPr>
        <p:txBody>
          <a:bodyPr anchor="ctr"/>
          <a:lstStyle/>
          <a:p>
            <a:pPr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/>
              </a:rPr>
              <a:t>3.0</a:t>
            </a:r>
          </a:p>
        </p:txBody>
      </p:sp>
      <p:sp>
        <p:nvSpPr>
          <p:cNvPr id="70" name="Takeaway"/>
          <p:cNvSpPr/>
          <p:nvPr/>
        </p:nvSpPr>
        <p:spPr>
          <a:xfrm>
            <a:off x="182880" y="4119880"/>
            <a:ext cx="8778240" cy="7950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marL="18288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/>
              </a:rPr>
              <a:t>Key Takeaway: </a:t>
            </a:r>
            <a:r>
              <a:rPr lang="en-US" sz="1100" b="0" dirty="0">
                <a:solidFill>
                  <a:srgbClr val="FFFFFF"/>
                </a:solidFill>
                <a:latin typeface="Calibri"/>
              </a:rPr>
              <a:t>LexiPath leads on response richness (+13% over RAG, +128% over Zero-Shot), eliminates retrieval failures (0% vs 33%), and dominates multi-session memory (3 keyword hits vs 2 and 1).</a:t>
            </a:r>
          </a:p>
        </p:txBody>
      </p:sp>
      <p:sp>
        <p:nvSpPr>
          <p:cNvPr id="71" name="SlideNum"/>
          <p:cNvSpPr/>
          <p:nvPr/>
        </p:nvSpPr>
        <p:spPr>
          <a:xfrm>
            <a:off x="8778240" y="4800600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B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172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marL="27432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Benchmark Run Evidence</a:t>
            </a:r>
            <a:r>
              <a:rPr lang="en-US" sz="1400" b="0" dirty="0">
                <a:solidFill>
                  <a:srgbClr val="A8C8D0"/>
                </a:solidFill>
                <a:latin typeface="Calibri"/>
              </a:rPr>
              <a:t>   ·   Automated evaluation output</a:t>
            </a:r>
          </a:p>
        </p:txBody>
      </p:sp>
      <p:sp>
        <p:nvSpPr>
          <p:cNvPr id="3" name="SubLabel"/>
          <p:cNvSpPr/>
          <p:nvPr/>
        </p:nvSpPr>
        <p:spPr>
          <a:xfrm>
            <a:off x="274320" y="68580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indent="0">
              <a:buNone/>
            </a:pPr>
            <a:endParaRPr lang="en-US" sz="1000" b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4" name="ScreenshotBox"/>
          <p:cNvSpPr/>
          <p:nvPr/>
        </p:nvSpPr>
        <p:spPr>
          <a:xfrm>
            <a:off x="274320" y="960120"/>
            <a:ext cx="8595360" cy="3200400"/>
          </a:xfrm>
          <a:prstGeom prst="rect">
            <a:avLst/>
          </a:prstGeom>
          <a:solidFill>
            <a:srgbClr val="EAEFF8"/>
          </a:solidFill>
          <a:ln w="19050" cap="flat" cmpd="sng">
            <a:solidFill>
              <a:srgbClr val="028090"/>
            </a:solidFill>
            <a:prstDash val="dash"/>
          </a:ln>
        </p:spPr>
        <p:txBody>
          <a:bodyPr anchor="ctr"/>
          <a:lstStyle/>
          <a:p>
            <a:pPr indent="0" algn="ctr">
              <a:buNone/>
            </a:pPr>
            <a:endParaRPr lang="en-US" sz="1200" b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5" name="Caption"/>
          <p:cNvSpPr/>
          <p:nvPr/>
        </p:nvSpPr>
        <p:spPr>
          <a:xfrm>
            <a:off x="274320" y="419688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indent="0" algn="ctr">
              <a:buNone/>
            </a:pPr>
            <a:r>
              <a:rPr lang="en-US" sz="1000" b="0" i="1" dirty="0">
                <a:solidFill>
                  <a:srgbClr val="64748B"/>
                </a:solidFill>
                <a:latin typeface="Calibri"/>
              </a:rPr>
              <a:t>Fig. 2 — Benchmark output: 3 systems × 3 suites (Diagnosis, Tutoring, Continuity). All runs: success=true.</a:t>
            </a:r>
          </a:p>
        </p:txBody>
      </p:sp>
      <p:sp>
        <p:nvSpPr>
          <p:cNvPr id="6" name="StatZS"/>
          <p:cNvSpPr/>
          <p:nvPr/>
        </p:nvSpPr>
        <p:spPr>
          <a:xfrm>
            <a:off x="274320" y="4470480"/>
            <a:ext cx="2743200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="ctr"/>
          <a:lstStyle/>
          <a:p>
            <a:pPr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Zero-Shot</a:t>
            </a:r>
          </a:p>
          <a:p>
            <a:pPr indent="0" algn="ctr">
              <a:buNone/>
            </a:pPr>
            <a:r>
              <a:rPr lang="en-US" sz="1000" b="0" dirty="0">
                <a:solidFill>
                  <a:srgbClr val="D0D8E4"/>
                </a:solidFill>
                <a:latin typeface="Calibri"/>
              </a:rPr>
              <a:t>176 chars · 1 mem hit · no retrieval</a:t>
            </a:r>
          </a:p>
        </p:txBody>
      </p:sp>
      <p:sp>
        <p:nvSpPr>
          <p:cNvPr id="7" name="StatRAG"/>
          <p:cNvSpPr/>
          <p:nvPr/>
        </p:nvSpPr>
        <p:spPr>
          <a:xfrm>
            <a:off x="3200160" y="4470480"/>
            <a:ext cx="2743200" cy="457200"/>
          </a:xfrm>
          <a:prstGeom prst="rect">
            <a:avLst/>
          </a:prstGeom>
          <a:solidFill>
            <a:srgbClr val="2D3E8F"/>
          </a:solidFill>
          <a:ln>
            <a:noFill/>
          </a:ln>
        </p:spPr>
        <p:txBody>
          <a:bodyPr anchor="ctr"/>
          <a:lstStyle/>
          <a:p>
            <a:pPr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Stateless RAG</a:t>
            </a:r>
          </a:p>
          <a:p>
            <a:pPr indent="0" algn="ctr">
              <a:buNone/>
            </a:pPr>
            <a:r>
              <a:rPr lang="en-US" sz="1000" b="0" dirty="0">
                <a:solidFill>
                  <a:srgbClr val="A8B8E8"/>
                </a:solidFill>
                <a:latin typeface="Calibri"/>
              </a:rPr>
              <a:t>357 chars · 2 mem hits · 33% fallback</a:t>
            </a:r>
          </a:p>
        </p:txBody>
      </p:sp>
      <p:sp>
        <p:nvSpPr>
          <p:cNvPr id="8" name="StatLP"/>
          <p:cNvSpPr/>
          <p:nvPr/>
        </p:nvSpPr>
        <p:spPr>
          <a:xfrm>
            <a:off x="6126000" y="4470480"/>
            <a:ext cx="274320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="ctr"/>
          <a:lstStyle/>
          <a:p>
            <a:pPr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LexiPath ✔</a:t>
            </a:r>
          </a:p>
          <a:p>
            <a:pPr indent="0" algn="ctr">
              <a:buNone/>
            </a:pPr>
            <a:r>
              <a:rPr lang="en-US" sz="1000" b="0" dirty="0">
                <a:solidFill>
                  <a:srgbClr val="A8E8F0"/>
                </a:solidFill>
                <a:latin typeface="Calibri"/>
              </a:rPr>
              <a:t>402 chars · 3 mem hits · 0% fallback</a:t>
            </a:r>
          </a:p>
        </p:txBody>
      </p:sp>
      <p:sp>
        <p:nvSpPr>
          <p:cNvPr id="9" name="SlideNum"/>
          <p:cNvSpPr/>
          <p:nvPr/>
        </p:nvSpPr>
        <p:spPr>
          <a:xfrm>
            <a:off x="8778240" y="4800600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12" name="AutoShape 2">
            <a:extLst>
              <a:ext uri="{FF2B5EF4-FFF2-40B4-BE49-F238E27FC236}">
                <a16:creationId xmlns:a16="http://schemas.microsoft.com/office/drawing/2014/main" id="{5DCC5128-FF94-1603-7D4A-31061CB2DA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" name="AutoShape 4">
            <a:extLst>
              <a:ext uri="{FF2B5EF4-FFF2-40B4-BE49-F238E27FC236}">
                <a16:creationId xmlns:a16="http://schemas.microsoft.com/office/drawing/2014/main" id="{3A3C9133-28E6-AA02-83A5-14348399B1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BD2008F-0FE2-0E15-9A91-1732C847A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24" y="1009724"/>
            <a:ext cx="2652240" cy="312405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997DC89-7D78-9241-1D8E-51FD9569F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000" y="1029811"/>
            <a:ext cx="2652240" cy="308179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B71A93B-340E-7B47-5607-C8DD984FB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38" y="1037117"/>
            <a:ext cx="2652287" cy="30744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Study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377440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28600" y="868680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228600" y="1691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Students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A1–B1 German Proficiency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834640" y="804672"/>
          <a:ext cx="2286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3493008" y="171907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4.3/5</a:t>
            </a:r>
            <a:endParaRPr lang="en-US" sz="1800" dirty="0"/>
          </a:p>
        </p:txBody>
      </p:sp>
      <p:graphicFrame>
        <p:nvGraphicFramePr>
          <p:cNvPr id="9" name="Chart 1"/>
          <p:cNvGraphicFramePr/>
          <p:nvPr>
            <p:extLst>
              <p:ext uri="{D42A27DB-BD31-4B8C-83A1-F6EECF244321}">
                <p14:modId xmlns:p14="http://schemas.microsoft.com/office/powerpoint/2010/main" val="1755196484"/>
              </p:ext>
            </p:extLst>
          </p:nvPr>
        </p:nvGraphicFramePr>
        <p:xfrm>
          <a:off x="5394960" y="804672"/>
          <a:ext cx="35204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228600" y="3310128"/>
            <a:ext cx="8686800" cy="658368"/>
          </a:xfrm>
          <a:prstGeom prst="rect">
            <a:avLst/>
          </a:prstGeom>
          <a:solidFill>
            <a:srgbClr val="E8F0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228600" y="3310128"/>
            <a:ext cx="54864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365760" y="331012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"Responses felt more personalized and aligned with my actual learning needs."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28600" y="4114800"/>
            <a:ext cx="8686800" cy="658368"/>
          </a:xfrm>
          <a:prstGeom prst="rect">
            <a:avLst/>
          </a:prstGeom>
          <a:solidFill>
            <a:srgbClr val="E8F0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228600" y="4114800"/>
            <a:ext cx="54864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365760" y="41148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system remembered my earlier mistakes and revisited them — unlike regular chatbots."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778240" y="48006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4160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416052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54864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Evaluation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assessment used synthetic learner scenarios, not real classroom sessions.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993392"/>
            <a:ext cx="54864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19933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User Study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n=50 with subjective Likert ratings — not statistically powered for significance.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615184"/>
            <a:ext cx="54864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261518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LLM Backend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81635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only with kimi-k2.5 and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generalizability to other models is unknown.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236976"/>
            <a:ext cx="54864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323697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German-Only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43814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not yet validated across other target languages.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858768"/>
            <a:ext cx="54864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38587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Gap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05993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KB transformation steps not fully documented.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841248"/>
            <a:ext cx="4160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754880" y="841248"/>
            <a:ext cx="416052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46320" y="84124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1371600"/>
            <a:ext cx="54864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992624" y="13716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Learner Evaluation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92624" y="15727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studies with actual students and learning outcome metrics.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1993392"/>
            <a:ext cx="54864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992624" y="19933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Knowledge Tracing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92624" y="21945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BKT / hybrid symbolic-neural learner models.[4]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2615184"/>
            <a:ext cx="54864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992624" y="261518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92624" y="281635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architecture beyond German to other target languages.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3236976"/>
            <a:ext cx="54864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992624" y="323697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Optimization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92624" y="343814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diverse retrieval strategies and prompting configurations.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46320" y="3858768"/>
            <a:ext cx="54864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992624" y="38587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Input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92624" y="405993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Speech-based interaction for pronunciation training and oral practice.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778240" y="48006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clus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7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HeaderBg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rtlCol="0" anchor="ctr">
            <a:normAutofit/>
          </a:bodyPr>
          <a:lstStyle/>
          <a:p>
            <a:pPr marL="45720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Conclusion</a:t>
            </a:r>
            <a:r>
              <a:rPr lang="en-US" sz="2400" b="0" dirty="0">
                <a:solidFill>
                  <a:srgbClr val="028090"/>
                </a:solidFill>
                <a:latin typeface="Calibri" pitchFamily="34" charset="0"/>
              </a:rPr>
              <a:t>  ·  LexiPath</a:t>
            </a:r>
          </a:p>
        </p:txBody>
      </p:sp>
      <p:sp>
        <p:nvSpPr>
          <p:cNvPr id="4" name="Subtitle"/>
          <p:cNvSpPr/>
          <p:nvPr/>
        </p:nvSpPr>
        <p:spPr>
          <a:xfrm>
            <a:off x="0" y="685800"/>
            <a:ext cx="9144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</a:rPr>
              <a:t>A Stateful Retrieval-Augmented German Tutoring System with Adaptive Learner Modeling</a:t>
            </a:r>
          </a:p>
        </p:txBody>
      </p:sp>
      <p:sp>
        <p:nvSpPr>
          <p:cNvPr id="5" name="Divider"/>
          <p:cNvSpPr/>
          <p:nvPr/>
        </p:nvSpPr>
        <p:spPr>
          <a:xfrm>
            <a:off x="914400" y="1097280"/>
            <a:ext cx="73152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ard1Bg"/>
          <p:cNvSpPr/>
          <p:nvPr/>
        </p:nvSpPr>
        <p:spPr>
          <a:xfrm>
            <a:off x="274320" y="1234440"/>
            <a:ext cx="2651760" cy="2743200"/>
          </a:xfrm>
          <a:prstGeom prst="rect">
            <a:avLst/>
          </a:prstGeom>
          <a:solidFill>
            <a:srgbClr val="002060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ard1Num"/>
          <p:cNvSpPr/>
          <p:nvPr/>
        </p:nvSpPr>
        <p:spPr>
          <a:xfrm>
            <a:off x="365760" y="132588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4400" b="1" dirty="0">
                <a:solidFill>
                  <a:srgbClr val="02C39A"/>
                </a:solidFill>
                <a:latin typeface="Calibri" pitchFamily="34" charset="0"/>
              </a:rPr>
              <a:t>01</a:t>
            </a:r>
          </a:p>
        </p:txBody>
      </p:sp>
      <p:sp>
        <p:nvSpPr>
          <p:cNvPr id="8" name="Card1Line"/>
          <p:cNvSpPr/>
          <p:nvPr/>
        </p:nvSpPr>
        <p:spPr>
          <a:xfrm>
            <a:off x="457200" y="1966320"/>
            <a:ext cx="2286000" cy="0"/>
          </a:xfrm>
          <a:prstGeom prst="line">
            <a:avLst/>
          </a:prstGeom>
          <a:noFill/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Card1Title"/>
          <p:cNvSpPr/>
          <p:nvPr/>
        </p:nvSpPr>
        <p:spPr>
          <a:xfrm>
            <a:off x="365760" y="201168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Grounding Works</a:t>
            </a:r>
          </a:p>
        </p:txBody>
      </p:sp>
      <p:sp>
        <p:nvSpPr>
          <p:cNvPr id="10" name="Card1Body"/>
          <p:cNvSpPr/>
          <p:nvPr/>
        </p:nvSpPr>
        <p:spPr>
          <a:xfrm>
            <a:off x="365760" y="2468880"/>
            <a:ext cx="2468880" cy="12801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</a:rPr>
              <a:t>RAG integration eliminates hallucinations and significantly enriches response quality over zero-shot LLMs.</a:t>
            </a:r>
          </a:p>
        </p:txBody>
      </p:sp>
      <p:sp>
        <p:nvSpPr>
          <p:cNvPr id="11" name="Card2Bg"/>
          <p:cNvSpPr/>
          <p:nvPr/>
        </p:nvSpPr>
        <p:spPr>
          <a:xfrm>
            <a:off x="3246120" y="1234440"/>
            <a:ext cx="2651760" cy="2743200"/>
          </a:xfrm>
          <a:prstGeom prst="rect">
            <a:avLst/>
          </a:prstGeom>
          <a:solidFill>
            <a:srgbClr val="002060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Card2Num"/>
          <p:cNvSpPr/>
          <p:nvPr/>
        </p:nvSpPr>
        <p:spPr>
          <a:xfrm>
            <a:off x="3337560" y="132588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4400" b="1" dirty="0">
                <a:solidFill>
                  <a:srgbClr val="02C39A"/>
                </a:solidFill>
                <a:latin typeface="Calibri" pitchFamily="34" charset="0"/>
              </a:rPr>
              <a:t>02</a:t>
            </a:r>
          </a:p>
        </p:txBody>
      </p:sp>
      <p:sp>
        <p:nvSpPr>
          <p:cNvPr id="13" name="Card2Line"/>
          <p:cNvSpPr/>
          <p:nvPr/>
        </p:nvSpPr>
        <p:spPr>
          <a:xfrm>
            <a:off x="3428640" y="1966320"/>
            <a:ext cx="2286000" cy="0"/>
          </a:xfrm>
          <a:prstGeom prst="line">
            <a:avLst/>
          </a:prstGeom>
          <a:noFill/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Card2Title"/>
          <p:cNvSpPr/>
          <p:nvPr/>
        </p:nvSpPr>
        <p:spPr>
          <a:xfrm>
            <a:off x="3337560" y="201168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State Enables Continuity</a:t>
            </a:r>
          </a:p>
        </p:txBody>
      </p:sp>
      <p:sp>
        <p:nvSpPr>
          <p:cNvPr id="15" name="Card2Body"/>
          <p:cNvSpPr/>
          <p:nvPr/>
        </p:nvSpPr>
        <p:spPr>
          <a:xfrm>
            <a:off x="3337560" y="2468880"/>
            <a:ext cx="2468880" cy="12801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</a:rPr>
              <a:t>Persistent learner profiles drive consistent personalization and cross-session recall that stateless systems cannot match.</a:t>
            </a:r>
          </a:p>
        </p:txBody>
      </p:sp>
      <p:sp>
        <p:nvSpPr>
          <p:cNvPr id="16" name="Card3Bg"/>
          <p:cNvSpPr/>
          <p:nvPr/>
        </p:nvSpPr>
        <p:spPr>
          <a:xfrm>
            <a:off x="6217920" y="1234440"/>
            <a:ext cx="2651760" cy="2743200"/>
          </a:xfrm>
          <a:prstGeom prst="rect">
            <a:avLst/>
          </a:prstGeom>
          <a:solidFill>
            <a:srgbClr val="002060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Card3Num"/>
          <p:cNvSpPr/>
          <p:nvPr/>
        </p:nvSpPr>
        <p:spPr>
          <a:xfrm>
            <a:off x="6309360" y="132588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4400" b="1" dirty="0">
                <a:solidFill>
                  <a:srgbClr val="02C39A"/>
                </a:solidFill>
                <a:latin typeface="Calibri" pitchFamily="34" charset="0"/>
              </a:rPr>
              <a:t>03</a:t>
            </a:r>
          </a:p>
        </p:txBody>
      </p:sp>
      <p:sp>
        <p:nvSpPr>
          <p:cNvPr id="18" name="Card3Line"/>
          <p:cNvSpPr/>
          <p:nvPr/>
        </p:nvSpPr>
        <p:spPr>
          <a:xfrm>
            <a:off x="6400440" y="1966320"/>
            <a:ext cx="2286000" cy="0"/>
          </a:xfrm>
          <a:prstGeom prst="line">
            <a:avLst/>
          </a:prstGeom>
          <a:noFill/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Card3Title"/>
          <p:cNvSpPr/>
          <p:nvPr/>
        </p:nvSpPr>
        <p:spPr>
          <a:xfrm>
            <a:off x="6309360" y="201168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Combined Beats Either Alone</a:t>
            </a:r>
          </a:p>
        </p:txBody>
      </p:sp>
      <p:sp>
        <p:nvSpPr>
          <p:cNvPr id="20" name="Card3Body"/>
          <p:cNvSpPr/>
          <p:nvPr/>
        </p:nvSpPr>
        <p:spPr>
          <a:xfrm>
            <a:off x="6309360" y="2468880"/>
            <a:ext cx="2468880" cy="12801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</a:rPr>
              <a:t>LexiPath’s integration of retrieval + learner state delivers the strongest performance across all four evaluation dimensions.</a:t>
            </a:r>
          </a:p>
        </p:txBody>
      </p:sp>
      <p:sp>
        <p:nvSpPr>
          <p:cNvPr id="21" name="BottomLine"/>
          <p:cNvSpPr/>
          <p:nvPr/>
        </p:nvSpPr>
        <p:spPr>
          <a:xfrm>
            <a:off x="914400" y="4206240"/>
            <a:ext cx="7315200" cy="0"/>
          </a:xfrm>
          <a:prstGeom prst="line">
            <a:avLst/>
          </a:prstGeom>
          <a:noFill/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Footer"/>
          <p:cNvSpPr/>
          <p:nvPr/>
        </p:nvSpPr>
        <p:spPr>
          <a:xfrm>
            <a:off x="274320" y="429768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</a:rPr>
              <a:t>HCNLP 2026  ·  Otto von Guericke University Magdeburg  ·  Group 14</a:t>
            </a:r>
          </a:p>
        </p:txBody>
      </p:sp>
      <p:sp>
        <p:nvSpPr>
          <p:cNvPr id="23" name="BottomStrip"/>
          <p:cNvSpPr/>
          <p:nvPr/>
        </p:nvSpPr>
        <p:spPr>
          <a:xfrm>
            <a:off x="0" y="4754040"/>
            <a:ext cx="9144000" cy="1296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D5820F-AD18-3F93-8029-0E2C1E7CD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87A29CE-A35A-D8F8-B5F3-2D690E158A31}"/>
              </a:ext>
            </a:extLst>
          </p:cNvPr>
          <p:cNvSpPr/>
          <p:nvPr/>
        </p:nvSpPr>
        <p:spPr>
          <a:xfrm>
            <a:off x="0" y="4332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4CDBCB-1AEA-42E5-51ED-53A8D17D551B}"/>
              </a:ext>
            </a:extLst>
          </p:cNvPr>
          <p:cNvSpPr/>
          <p:nvPr/>
        </p:nvSpPr>
        <p:spPr>
          <a:xfrm>
            <a:off x="274320" y="245685"/>
            <a:ext cx="8595360" cy="3919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ACEE06B-AF19-F4AE-9C8E-EB49E59D544F}"/>
              </a:ext>
            </a:extLst>
          </p:cNvPr>
          <p:cNvSpPr/>
          <p:nvPr/>
        </p:nvSpPr>
        <p:spPr>
          <a:xfrm>
            <a:off x="338328" y="859536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B12D2CF-9000-A033-2246-1B8D5996AF49}"/>
              </a:ext>
            </a:extLst>
          </p:cNvPr>
          <p:cNvSpPr/>
          <p:nvPr/>
        </p:nvSpPr>
        <p:spPr>
          <a:xfrm>
            <a:off x="556582" y="2124937"/>
            <a:ext cx="2072640" cy="4262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208E09B-0E52-0264-9EDA-FA4F0ACB0FD7}"/>
              </a:ext>
            </a:extLst>
          </p:cNvPr>
          <p:cNvSpPr/>
          <p:nvPr/>
        </p:nvSpPr>
        <p:spPr>
          <a:xfrm>
            <a:off x="538132" y="2644060"/>
            <a:ext cx="2353056" cy="449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3085EDB-8426-1492-5746-6AA396E28476}"/>
              </a:ext>
            </a:extLst>
          </p:cNvPr>
          <p:cNvSpPr/>
          <p:nvPr/>
        </p:nvSpPr>
        <p:spPr>
          <a:xfrm>
            <a:off x="512064" y="3362104"/>
            <a:ext cx="224942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AA2B4C1-208B-E01D-846F-E4EB7E67BFCE}"/>
              </a:ext>
            </a:extLst>
          </p:cNvPr>
          <p:cNvSpPr/>
          <p:nvPr/>
        </p:nvSpPr>
        <p:spPr>
          <a:xfrm>
            <a:off x="562356" y="3869716"/>
            <a:ext cx="2446020" cy="4325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23A918D-F9A4-01BC-B7E1-09B81631C182}"/>
              </a:ext>
            </a:extLst>
          </p:cNvPr>
          <p:cNvSpPr/>
          <p:nvPr/>
        </p:nvSpPr>
        <p:spPr>
          <a:xfrm>
            <a:off x="365760" y="35478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3C0CA95-92E8-A91D-83C0-3805D2BD6043}"/>
              </a:ext>
            </a:extLst>
          </p:cNvPr>
          <p:cNvSpPr/>
          <p:nvPr/>
        </p:nvSpPr>
        <p:spPr>
          <a:xfrm>
            <a:off x="411480" y="382219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FEDCBA5-7FB5-8E52-57DE-308AC494A5FE}"/>
              </a:ext>
            </a:extLst>
          </p:cNvPr>
          <p:cNvSpPr/>
          <p:nvPr/>
        </p:nvSpPr>
        <p:spPr>
          <a:xfrm>
            <a:off x="411480" y="409651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D0433E0-EC4E-AF05-B03F-198CD17AABEE}"/>
              </a:ext>
            </a:extLst>
          </p:cNvPr>
          <p:cNvSpPr/>
          <p:nvPr/>
        </p:nvSpPr>
        <p:spPr>
          <a:xfrm>
            <a:off x="411480" y="437083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7F25528-E6F9-8CBF-078B-ECBC223B1A50}"/>
              </a:ext>
            </a:extLst>
          </p:cNvPr>
          <p:cNvSpPr/>
          <p:nvPr/>
        </p:nvSpPr>
        <p:spPr>
          <a:xfrm>
            <a:off x="3310128" y="859536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4697323-14C8-CD99-8ED1-B3CC456035E3}"/>
              </a:ext>
            </a:extLst>
          </p:cNvPr>
          <p:cNvSpPr/>
          <p:nvPr/>
        </p:nvSpPr>
        <p:spPr>
          <a:xfrm>
            <a:off x="3291840" y="11155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12D70E9-430D-2BEA-CC34-5F6679EA119B}"/>
              </a:ext>
            </a:extLst>
          </p:cNvPr>
          <p:cNvSpPr/>
          <p:nvPr/>
        </p:nvSpPr>
        <p:spPr>
          <a:xfrm>
            <a:off x="3593592" y="3751446"/>
            <a:ext cx="2331720" cy="5034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7DF01B5-4A38-BD48-0CE6-70B824C9FEBF}"/>
              </a:ext>
            </a:extLst>
          </p:cNvPr>
          <p:cNvSpPr/>
          <p:nvPr/>
        </p:nvSpPr>
        <p:spPr>
          <a:xfrm>
            <a:off x="3337560" y="35478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597CE229-D737-D64C-D94E-34AFF8066724}"/>
              </a:ext>
            </a:extLst>
          </p:cNvPr>
          <p:cNvSpPr/>
          <p:nvPr/>
        </p:nvSpPr>
        <p:spPr>
          <a:xfrm>
            <a:off x="6281928" y="859536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20E59D67-6F30-DCA1-D1AA-DD4E00687337}"/>
              </a:ext>
            </a:extLst>
          </p:cNvPr>
          <p:cNvSpPr/>
          <p:nvPr/>
        </p:nvSpPr>
        <p:spPr>
          <a:xfrm>
            <a:off x="6199632" y="1011134"/>
            <a:ext cx="2825495" cy="590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4E17D727-617F-B510-0B51-2A941748E9CA}"/>
              </a:ext>
            </a:extLst>
          </p:cNvPr>
          <p:cNvSpPr/>
          <p:nvPr/>
        </p:nvSpPr>
        <p:spPr>
          <a:xfrm>
            <a:off x="6526530" y="2582217"/>
            <a:ext cx="2498598" cy="456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17BFD70D-0A8E-71E4-E4E0-AEC4C754212D}"/>
              </a:ext>
            </a:extLst>
          </p:cNvPr>
          <p:cNvSpPr/>
          <p:nvPr/>
        </p:nvSpPr>
        <p:spPr>
          <a:xfrm>
            <a:off x="6542532" y="3759387"/>
            <a:ext cx="2336292" cy="601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937B8EF5-400E-0BB1-56C2-E269E88457E0}"/>
              </a:ext>
            </a:extLst>
          </p:cNvPr>
          <p:cNvSpPr/>
          <p:nvPr/>
        </p:nvSpPr>
        <p:spPr>
          <a:xfrm>
            <a:off x="6556247" y="3108960"/>
            <a:ext cx="2359153" cy="588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05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84633244-FA29-DFDA-E7E4-1605A35488B7}"/>
              </a:ext>
            </a:extLst>
          </p:cNvPr>
          <p:cNvSpPr/>
          <p:nvPr/>
        </p:nvSpPr>
        <p:spPr>
          <a:xfrm>
            <a:off x="8778240" y="48006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5</a:t>
            </a:r>
            <a:endParaRPr lang="en-US" sz="10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5455E3B-B63A-6A49-69F9-A5B0EF74CB9C}"/>
              </a:ext>
            </a:extLst>
          </p:cNvPr>
          <p:cNvSpPr txBox="1"/>
          <p:nvPr/>
        </p:nvSpPr>
        <p:spPr>
          <a:xfrm>
            <a:off x="0" y="841250"/>
            <a:ext cx="91440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r>
              <a:rPr lang="en-IN" sz="1400" dirty="0"/>
              <a:t>Patrick Lewis, Ethan Perez, Aleksandra </a:t>
            </a:r>
            <a:r>
              <a:rPr lang="en-IN" sz="1400" dirty="0" err="1"/>
              <a:t>Piktus</a:t>
            </a:r>
            <a:r>
              <a:rPr lang="en-IN" sz="1400" dirty="0"/>
              <a:t>, Fabio Petroni, Vladimir </a:t>
            </a:r>
            <a:r>
              <a:rPr lang="en-IN" sz="1400" dirty="0" err="1"/>
              <a:t>Karpukhin</a:t>
            </a:r>
            <a:r>
              <a:rPr lang="en-IN" sz="1400" dirty="0"/>
              <a:t>, Naman Goyal, Heinrich </a:t>
            </a:r>
            <a:r>
              <a:rPr lang="en-IN" sz="1400" dirty="0" err="1"/>
              <a:t>Küttler</a:t>
            </a:r>
            <a:r>
              <a:rPr lang="en-IN" sz="1400" dirty="0"/>
              <a:t>, Mike Lewis, Wen-tau Yih, Tim </a:t>
            </a:r>
            <a:r>
              <a:rPr lang="en-IN" sz="1400" dirty="0" err="1"/>
              <a:t>Rocktäschel</a:t>
            </a:r>
            <a:r>
              <a:rPr lang="en-IN" sz="1400" dirty="0"/>
              <a:t>, Sebastian Riedel, and Douwe Kiela. 2020. Retrieval-Augmented Generation for Knowledge-Intensive NLP Tasks. In Advances in Neural Information Processing Systems, Vol. 33. 9459–9474</a:t>
            </a:r>
          </a:p>
          <a:p>
            <a:pPr algn="just"/>
            <a:endParaRPr lang="en-IN" sz="1400" dirty="0"/>
          </a:p>
          <a:p>
            <a:pPr algn="just"/>
            <a:r>
              <a:rPr lang="en-IN" sz="1400" dirty="0"/>
              <a:t>[2] Wanjun Zhong, </a:t>
            </a:r>
            <a:r>
              <a:rPr lang="en-IN" sz="1400" dirty="0" err="1"/>
              <a:t>Lianghong</a:t>
            </a:r>
            <a:r>
              <a:rPr lang="en-IN" sz="1400" dirty="0"/>
              <a:t> Guo, </a:t>
            </a:r>
            <a:r>
              <a:rPr lang="en-IN" sz="1400" dirty="0" err="1"/>
              <a:t>Qiqi</a:t>
            </a:r>
            <a:r>
              <a:rPr lang="en-IN" sz="1400" dirty="0"/>
              <a:t> Gao, He Ye, and Yanlin Wang. 2024. </a:t>
            </a:r>
            <a:r>
              <a:rPr lang="en-IN" sz="1400" dirty="0" err="1"/>
              <a:t>MemoryBank</a:t>
            </a:r>
            <a:r>
              <a:rPr lang="en-IN" sz="1400" dirty="0"/>
              <a:t>: Enhancing Large Language Models with Long-Term Memory. In Proceedings of the AAAI Conference on Artificial Intelligence, Vol. 38. 19724–19731. doi:10.1609/aaai.v38i17.29946 </a:t>
            </a:r>
          </a:p>
          <a:p>
            <a:pPr algn="just"/>
            <a:endParaRPr lang="en-IN" sz="1400" dirty="0"/>
          </a:p>
          <a:p>
            <a:pPr algn="just"/>
            <a:r>
              <a:rPr lang="en-IN" sz="1400" dirty="0"/>
              <a:t>[3]</a:t>
            </a:r>
            <a:r>
              <a:rPr lang="en-US" sz="1400" dirty="0"/>
              <a:t> Mieke </a:t>
            </a:r>
            <a:r>
              <a:rPr lang="en-US" sz="1400" dirty="0" err="1"/>
              <a:t>Vandewaetere</a:t>
            </a:r>
            <a:r>
              <a:rPr lang="en-US" sz="1400" dirty="0"/>
              <a:t>, Piet Desmet, and Geraldine </a:t>
            </a:r>
            <a:r>
              <a:rPr lang="en-US" sz="1400" dirty="0" err="1"/>
              <a:t>Clarebout</a:t>
            </a:r>
            <a:r>
              <a:rPr lang="en-US" sz="1400" dirty="0"/>
              <a:t>. 2011. The Contribution of Learner Characteristics in the Development of Computer-Based Adaptive Learning Environments. Computers in Human Behavior 27, 1 (2011), 118–130. doi:10.1016/j.chb.2010.07.038</a:t>
            </a:r>
          </a:p>
          <a:p>
            <a:pPr algn="just"/>
            <a:endParaRPr lang="en-US" sz="1400" dirty="0"/>
          </a:p>
          <a:p>
            <a:pPr algn="just"/>
            <a:r>
              <a:rPr lang="en-US" sz="1400" dirty="0"/>
              <a:t>[4]</a:t>
            </a:r>
            <a:r>
              <a:rPr lang="en-IN" sz="1400" dirty="0"/>
              <a:t> Chris Piech, Jonathan Spencer, Jonathan Huang, Surya Ganguli, Mehran </a:t>
            </a:r>
            <a:r>
              <a:rPr lang="en-IN" sz="1400" dirty="0" err="1"/>
              <a:t>Sahami</a:t>
            </a:r>
            <a:r>
              <a:rPr lang="en-IN" sz="1400" dirty="0"/>
              <a:t>, Leonidas J. Guibas, and Jascha Sohl-Dickstein. 2015. Deep Knowledge Tracing. arXiv:1506.05908 [</a:t>
            </a:r>
            <a:r>
              <a:rPr lang="en-IN" sz="1400" dirty="0" err="1"/>
              <a:t>cs.LG</a:t>
            </a:r>
            <a:r>
              <a:rPr lang="en-IN" sz="1400" dirty="0"/>
              <a:t>] https://arxiv.org/abs/1506.05908 </a:t>
            </a:r>
          </a:p>
          <a:p>
            <a:pPr algn="just"/>
            <a:endParaRPr lang="en-IN" sz="1400" dirty="0"/>
          </a:p>
          <a:p>
            <a:pPr algn="just"/>
            <a:r>
              <a:rPr lang="en-IN" sz="1400" dirty="0"/>
              <a:t>[5] Luiz C. Borro, Luiz A. B. </a:t>
            </a:r>
            <a:r>
              <a:rPr lang="en-IN" sz="1400" dirty="0" err="1"/>
              <a:t>Macarini</a:t>
            </a:r>
            <a:r>
              <a:rPr lang="en-IN" sz="1400" dirty="0"/>
              <a:t>, Gordon Tindall, Michael Montero, and Adam B. Struck. 2026. Memori: A Persistent Memory Layer for Efficient, Context-Aware LLM Agents. arXiv:2603.19935 [</a:t>
            </a:r>
            <a:r>
              <a:rPr lang="en-IN" sz="1400" dirty="0" err="1"/>
              <a:t>cs.LG</a:t>
            </a:r>
            <a:r>
              <a:rPr lang="en-IN" sz="1400" dirty="0"/>
              <a:t>] https://arxiv.org/abs/2603.19935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74176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ielen D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6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" name="LeftPanel"/>
          <p:cNvSpPr/>
          <p:nvPr/>
        </p:nvSpPr>
        <p:spPr>
          <a:xfrm>
            <a:off x="0" y="0"/>
            <a:ext cx="320040" cy="4883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4" name="RightPanel"/>
          <p:cNvSpPr/>
          <p:nvPr/>
        </p:nvSpPr>
        <p:spPr>
          <a:xfrm>
            <a:off x="8823960" y="0"/>
            <a:ext cx="320040" cy="4883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" name="MainTitle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de-DE" sz="7200" b="1" dirty="0">
                <a:solidFill>
                  <a:srgbClr val="002060"/>
                </a:solidFill>
                <a:latin typeface="Calibri" pitchFamily="34" charset="0"/>
              </a:rPr>
              <a:t>Vielen Dank!</a:t>
            </a:r>
          </a:p>
        </p:txBody>
      </p:sp>
      <p:sp>
        <p:nvSpPr>
          <p:cNvPr id="6" name="Divider"/>
          <p:cNvSpPr/>
          <p:nvPr/>
        </p:nvSpPr>
        <p:spPr>
          <a:xfrm>
            <a:off x="2286000" y="1874520"/>
            <a:ext cx="4572000" cy="0"/>
          </a:xfrm>
          <a:prstGeom prst="line">
            <a:avLst/>
          </a:prstGeom>
          <a:noFill/>
          <a:ln w="28575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ubtitle"/>
          <p:cNvSpPr/>
          <p:nvPr/>
        </p:nvSpPr>
        <p:spPr>
          <a:xfrm>
            <a:off x="457200" y="1966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de-DE" sz="1800" dirty="0">
                <a:solidFill>
                  <a:srgbClr val="028090"/>
                </a:solidFill>
                <a:latin typeface="Calibri" pitchFamily="34" charset="0"/>
              </a:rPr>
              <a:t>Fragen und Diskussion</a:t>
            </a:r>
          </a:p>
        </p:txBody>
      </p:sp>
      <p:sp>
        <p:nvSpPr>
          <p:cNvPr id="8" name="ProjectName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de-DE" sz="1400" b="1" dirty="0">
                <a:solidFill>
                  <a:srgbClr val="02C39A"/>
                </a:solidFill>
                <a:latin typeface="Calibri" pitchFamily="34" charset="0"/>
              </a:rPr>
              <a:t>LexiPath</a:t>
            </a:r>
            <a:r>
              <a:rPr lang="de-DE" sz="1400" dirty="0">
                <a:solidFill>
                  <a:srgbClr val="002060"/>
                </a:solidFill>
                <a:latin typeface="Calibri" pitchFamily="34" charset="0"/>
              </a:rPr>
              <a:t>  ·  Shiny Naineni  ·  Gagana Jayarama</a:t>
            </a:r>
          </a:p>
        </p:txBody>
      </p:sp>
      <p:sp>
        <p:nvSpPr>
          <p:cNvPr id="9" name="UniInfo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de-DE" sz="1100" i="1" dirty="0">
                <a:solidFill>
                  <a:srgbClr val="002060"/>
                </a:solidFill>
                <a:latin typeface="Calibri" pitchFamily="34" charset="0"/>
              </a:rPr>
              <a:t>Otto-von-Guericke-Universität Magdeburg  ·  HCNLP 2026  ·  Gruppe 14</a:t>
            </a:r>
          </a:p>
        </p:txBody>
      </p:sp>
      <p:sp>
        <p:nvSpPr>
          <p:cNvPr id="10" name="BottomBand"/>
          <p:cNvSpPr/>
          <p:nvPr/>
        </p:nvSpPr>
        <p:spPr>
          <a:xfrm>
            <a:off x="0" y="4389840"/>
            <a:ext cx="9144000" cy="493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de-DE" sz="1000" dirty="0">
                <a:solidFill>
                  <a:srgbClr val="028090"/>
                </a:solidFill>
                <a:latin typeface="Calibri" pitchFamily="34" charset="0"/>
              </a:rPr>
              <a:t>Human-Centered Natural Language Processing  ·  April 2026</a:t>
            </a:r>
          </a:p>
        </p:txBody>
      </p:sp>
      <p:sp>
        <p:nvSpPr>
          <p:cNvPr id="11" name="BottomStrip"/>
          <p:cNvSpPr/>
          <p:nvPr/>
        </p:nvSpPr>
        <p:spPr>
          <a:xfrm>
            <a:off x="0" y="4754040"/>
            <a:ext cx="9144000" cy="1296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1128</TotalTime>
  <Words>1697</Words>
  <Application>Microsoft Office PowerPoint</Application>
  <PresentationFormat>On-screen Show (16:9)</PresentationFormat>
  <Paragraphs>283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LexiPath: A Stateful RAG German Tutoring System</dc:title>
  <dc:subject>PptxGenJS Presentation</dc:subject>
  <dc:creator>Shiny Naineni &amp; Gagana Jayarama</dc:creator>
  <cp:lastModifiedBy>Shiny Rao</cp:lastModifiedBy>
  <cp:revision>18</cp:revision>
  <dcterms:created xsi:type="dcterms:W3CDTF">2026-05-08T07:36:25Z</dcterms:created>
  <dcterms:modified xsi:type="dcterms:W3CDTF">2026-05-12T17:18:29Z</dcterms:modified>
</cp:coreProperties>
</file>